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ff798b87e541f9" /><Relationship Type="http://schemas.openxmlformats.org/officeDocument/2006/relationships/extended-properties" Target="/docProps/app.xml" Id="R396ced16b9f44649" /><Relationship Type="http://schemas.openxmlformats.org/officeDocument/2006/relationships/officeDocument" Target="/ppt/presentation.xml" Id="R43eae94e4404414a" /></Relationships>
</file>

<file path=ppt/presentation.xml><?xml version="1.0" encoding="utf-8"?>
<p:presentation xmlns:p="http://schemas.openxmlformats.org/presentationml/2006/main">
  <p:sldMasterIdLst>
    <p:sldMasterId xmlns:r="http://schemas.openxmlformats.org/officeDocument/2006/relationships" id="2147483648" r:id="Rc293513769dd4e32"/>
  </p:sldMasterIdLst>
  <p:notesMasterIdLst>
    <p:notesMasterId xmlns:r="http://schemas.openxmlformats.org/officeDocument/2006/relationships" r:id="Ra060e79d1e1a4928"/>
  </p:notesMasterIdLst>
  <p:sldIdLst>
    <p:sldId xmlns:r="http://schemas.openxmlformats.org/officeDocument/2006/relationships" id="256" r:id="R9cf0dbd722264e20"/>
    <p:sldId xmlns:r="http://schemas.openxmlformats.org/officeDocument/2006/relationships" id="257" r:id="Ra97147f92a334c0b"/>
    <p:sldId xmlns:r="http://schemas.openxmlformats.org/officeDocument/2006/relationships" id="258" r:id="R37cb45331a4c40e5"/>
    <p:sldId xmlns:r="http://schemas.openxmlformats.org/officeDocument/2006/relationships" id="259" r:id="R51332cb4d31f4708"/>
    <p:sldId xmlns:r="http://schemas.openxmlformats.org/officeDocument/2006/relationships" id="260" r:id="R7f27c660409242aa"/>
    <p:sldId xmlns:r="http://schemas.openxmlformats.org/officeDocument/2006/relationships" id="261" r:id="R0348dba751314a6a"/>
    <p:sldId xmlns:r="http://schemas.openxmlformats.org/officeDocument/2006/relationships" id="262" r:id="Rbcd37b082ba141e1"/>
    <p:sldId xmlns:r="http://schemas.openxmlformats.org/officeDocument/2006/relationships" id="263" r:id="Rc5f187e9a677476e"/>
    <p:sldId xmlns:r="http://schemas.openxmlformats.org/officeDocument/2006/relationships" id="264" r:id="R38976b7f2ecd445d"/>
    <p:sldId xmlns:r="http://schemas.openxmlformats.org/officeDocument/2006/relationships" id="265" r:id="R4cfbed40bdc746c1"/>
    <p:sldId xmlns:r="http://schemas.openxmlformats.org/officeDocument/2006/relationships" id="266" r:id="R063801ef313442b4"/>
    <p:sldId xmlns:r="http://schemas.openxmlformats.org/officeDocument/2006/relationships" id="267" r:id="R6cde6bb9c908436f"/>
    <p:sldId xmlns:r="http://schemas.openxmlformats.org/officeDocument/2006/relationships" id="268" r:id="R1562ef14870a4183"/>
    <p:sldId xmlns:r="http://schemas.openxmlformats.org/officeDocument/2006/relationships" id="269" r:id="R21e5b2381b8f41ac"/>
    <p:sldId xmlns:r="http://schemas.openxmlformats.org/officeDocument/2006/relationships" id="270" r:id="R07e3bca63b974beb"/>
    <p:sldId xmlns:r="http://schemas.openxmlformats.org/officeDocument/2006/relationships" id="271" r:id="Rbc0ac098a769429b"/>
    <p:sldId xmlns:r="http://schemas.openxmlformats.org/officeDocument/2006/relationships" id="272" r:id="Ra83137adbb24455a"/>
    <p:sldId xmlns:r="http://schemas.openxmlformats.org/officeDocument/2006/relationships" id="273" r:id="R5cf0399a5d484f8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471ac9b6204326" /><Relationship Type="http://schemas.openxmlformats.org/officeDocument/2006/relationships/slideMaster" Target="/ppt/slideMasters/slideMaster1.xml" Id="Rc293513769dd4e32" /><Relationship Type="http://schemas.openxmlformats.org/officeDocument/2006/relationships/notesMaster" Target="/ppt/notesMasters/notesMaster1.xml" Id="Ra060e79d1e1a4928" /><Relationship Type="http://schemas.openxmlformats.org/officeDocument/2006/relationships/presProps" Target="/ppt/presProps.xml" Id="R94d23c3b84324ac9" /><Relationship Type="http://schemas.openxmlformats.org/officeDocument/2006/relationships/tableStyles" Target="/ppt/tableStyles.xml" Id="R72a755540a4b4dcd" /><Relationship Type="http://schemas.openxmlformats.org/officeDocument/2006/relationships/slide" Target="/ppt/slides/slide1.xml" Id="R9cf0dbd722264e20" /><Relationship Type="http://schemas.openxmlformats.org/officeDocument/2006/relationships/slide" Target="/ppt/slides/slide2.xml" Id="Ra97147f92a334c0b" /><Relationship Type="http://schemas.openxmlformats.org/officeDocument/2006/relationships/slide" Target="/ppt/slides/slide3.xml" Id="R37cb45331a4c40e5" /><Relationship Type="http://schemas.openxmlformats.org/officeDocument/2006/relationships/slide" Target="/ppt/slides/slide4.xml" Id="R51332cb4d31f4708" /><Relationship Type="http://schemas.openxmlformats.org/officeDocument/2006/relationships/slide" Target="/ppt/slides/slide5.xml" Id="R7f27c660409242aa" /><Relationship Type="http://schemas.openxmlformats.org/officeDocument/2006/relationships/slide" Target="/ppt/slides/slide6.xml" Id="R0348dba751314a6a" /><Relationship Type="http://schemas.openxmlformats.org/officeDocument/2006/relationships/slide" Target="/ppt/slides/slide7.xml" Id="Rbcd37b082ba141e1" /><Relationship Type="http://schemas.openxmlformats.org/officeDocument/2006/relationships/slide" Target="/ppt/slides/slide8.xml" Id="Rc5f187e9a677476e" /><Relationship Type="http://schemas.openxmlformats.org/officeDocument/2006/relationships/slide" Target="/ppt/slides/slide9.xml" Id="R38976b7f2ecd445d" /><Relationship Type="http://schemas.openxmlformats.org/officeDocument/2006/relationships/slide" Target="/ppt/slides/slide10.xml" Id="R4cfbed40bdc746c1" /><Relationship Type="http://schemas.openxmlformats.org/officeDocument/2006/relationships/slide" Target="/ppt/slides/slide11.xml" Id="R063801ef313442b4" /><Relationship Type="http://schemas.openxmlformats.org/officeDocument/2006/relationships/slide" Target="/ppt/slides/slide12.xml" Id="R6cde6bb9c908436f" /><Relationship Type="http://schemas.openxmlformats.org/officeDocument/2006/relationships/slide" Target="/ppt/slides/slide13.xml" Id="R1562ef14870a4183" /><Relationship Type="http://schemas.openxmlformats.org/officeDocument/2006/relationships/slide" Target="/ppt/slides/slide14.xml" Id="R21e5b2381b8f41ac" /><Relationship Type="http://schemas.openxmlformats.org/officeDocument/2006/relationships/slide" Target="/ppt/slides/slide15.xml" Id="R07e3bca63b974beb" /><Relationship Type="http://schemas.openxmlformats.org/officeDocument/2006/relationships/slide" Target="/ppt/slides/slide16.xml" Id="Rbc0ac098a769429b" /><Relationship Type="http://schemas.openxmlformats.org/officeDocument/2006/relationships/slide" Target="/ppt/slides/slide17.xml" Id="Ra83137adbb24455a" /><Relationship Type="http://schemas.openxmlformats.org/officeDocument/2006/relationships/slide" Target="/ppt/slides/slide18.xml" Id="R5cf0399a5d484f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25af7defb346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84cd3386104192" /><Relationship Type="http://schemas.openxmlformats.org/officeDocument/2006/relationships/notesMaster" Target="/ppt/notesMasters/notesMaster1.xml" Id="R312c5e7443b54a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7cf85cd1a04883" /><Relationship Type="http://schemas.openxmlformats.org/officeDocument/2006/relationships/notesMaster" Target="/ppt/notesMasters/notesMaster1.xml" Id="R8833895aa2b24b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f8a95508b74944" /><Relationship Type="http://schemas.openxmlformats.org/officeDocument/2006/relationships/notesMaster" Target="/ppt/notesMasters/notesMaster1.xml" Id="Rb64abdf920224e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a29aebabe84587" /><Relationship Type="http://schemas.openxmlformats.org/officeDocument/2006/relationships/notesMaster" Target="/ppt/notesMasters/notesMaster1.xml" Id="R3678efee2d3d48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6ebb14d8c34453" /><Relationship Type="http://schemas.openxmlformats.org/officeDocument/2006/relationships/notesMaster" Target="/ppt/notesMasters/notesMaster1.xml" Id="R97566345ee8740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f8ea71419b499d" /><Relationship Type="http://schemas.openxmlformats.org/officeDocument/2006/relationships/notesMaster" Target="/ppt/notesMasters/notesMaster1.xml" Id="R128c983a684d43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7b460dffe44f07" /><Relationship Type="http://schemas.openxmlformats.org/officeDocument/2006/relationships/notesMaster" Target="/ppt/notesMasters/notesMaster1.xml" Id="Rf452f45d55ab4d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89817b58c944c4" /><Relationship Type="http://schemas.openxmlformats.org/officeDocument/2006/relationships/notesMaster" Target="/ppt/notesMasters/notesMaster1.xml" Id="R9885d96529ac43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a3a62539d4450d" /><Relationship Type="http://schemas.openxmlformats.org/officeDocument/2006/relationships/notesMaster" Target="/ppt/notesMasters/notesMaster1.xml" Id="R0da8af52b16b40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34100e995e46ac" /><Relationship Type="http://schemas.openxmlformats.org/officeDocument/2006/relationships/notesMaster" Target="/ppt/notesMasters/notesMaster1.xml" Id="R87352ed950314b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29647f1b8b47fb" /><Relationship Type="http://schemas.openxmlformats.org/officeDocument/2006/relationships/notesMaster" Target="/ppt/notesMasters/notesMaster1.xml" Id="R3dcabd6e4f5344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6c3c1e3348403e" /><Relationship Type="http://schemas.openxmlformats.org/officeDocument/2006/relationships/notesMaster" Target="/ppt/notesMasters/notesMaster1.xml" Id="R7dda3f826caf4d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a53709bb51d4910" /><Relationship Type="http://schemas.openxmlformats.org/officeDocument/2006/relationships/notesMaster" Target="/ppt/notesMasters/notesMaster1.xml" Id="R336d2d56611d40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b2cce7ef2d414e" /><Relationship Type="http://schemas.openxmlformats.org/officeDocument/2006/relationships/notesMaster" Target="/ppt/notesMasters/notesMaster1.xml" Id="R6842e1f0e67c43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2e6b742b2a41bf" /><Relationship Type="http://schemas.openxmlformats.org/officeDocument/2006/relationships/notesMaster" Target="/ppt/notesMasters/notesMaster1.xml" Id="R90d1b809bd9c40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96c5b0deac4e72" /><Relationship Type="http://schemas.openxmlformats.org/officeDocument/2006/relationships/notesMaster" Target="/ppt/notesMasters/notesMaster1.xml" Id="R51af3064c6b4427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a0d765306f4556" /><Relationship Type="http://schemas.openxmlformats.org/officeDocument/2006/relationships/notesMaster" Target="/ppt/notesMasters/notesMaster1.xml" Id="Rb76c74373a3a46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b03260e26344e4" /><Relationship Type="http://schemas.openxmlformats.org/officeDocument/2006/relationships/notesMaster" Target="/ppt/notesMasters/notesMaster1.xml" Id="R334f3798024a45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tutorial uses the protected cloud studio. The worked exercise is a persistent checklist followed by a search feature. Screenshots show the existing cloud instance and its retained checklist. Example requests are instructions for your own next run. Agent execution spends provider credit. The studio supports bounded browser applications, and human inspection remains the acceptance step.</a:t>
            </a:r>
          </a:p>
          <a:p xmlns:a="http://schemas.openxmlformats.org/drawingml/2006/main">
            <a:r>
              <a:t/>
            </a:r>
          </a:p>
          <a:p xmlns:a="http://schemas.openxmlformats.org/drawingml/2006/main">
            <a:r>
              <a:t>Sources: /Users/adam/orbitflow-v2/README.md; /Users/adam/orbitflow-v2/docs/PRODUCTION.md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left sidebar to move between pages. Overview is the shortest path to a new build. Runs contains the request, messages, tools, retained source, preview, usage, and decisions. Agents controls each participant. Workflows controls the route between them. Setup reports readiness and spending. The words Local agent studio still appear in the current cloud interface. They do not change the cloud URL.</a:t>
            </a:r>
          </a:p>
          <a:p xmlns:a="http://schemas.openxmlformats.org/drawingml/2006/main">
            <a:r>
              <a:t/>
            </a:r>
          </a:p>
          <a:p xmlns:a="http://schemas.openxmlformats.org/drawingml/2006/main">
            <a:r>
              <a:t>Sources: /Users/adam/orbitflow-v2/src/web/App.tsx</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login is stored privately in .local/deployment/operator.json. Do not put credentials in prompts or share that file. Setup reports configuration, rather than editing server secrets. The current allowance and recorded spend can change, so use the live Setup page. Provider reporting may lag, and an in-flight response can exceed the application allowance. New builds, improvements, conversations, and schedules can spend credit. You can inspect existing history without making a model request. The production bot is configured, but the full cloud Telegram improvement and Adam's production walkthrough remain pending acceptance in the deployment record.</a:t>
            </a:r>
          </a:p>
          <a:p xmlns:a="http://schemas.openxmlformats.org/drawingml/2006/main">
            <a:r>
              <a:t/>
            </a:r>
          </a:p>
          <a:p xmlns:a="http://schemas.openxmlformats.org/drawingml/2006/main">
            <a:r>
              <a:t>Sources: /Users/adam/orbitflow-v2/docs/PRODUCTION.md; /Users/adam/orbitflow-v2/PRODUCT.md; /Users/adam/orbitflow-v2/README.md; /Users/adam/orbitflow-v2/src/web/App.tsx</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Paste this complete example into the request field: Build a checklist where I can add tasks, mark them complete, and delete them. Save tasks in this browser so they survive reloads. Use plain HTML, CSS, and JavaScript.</a:t>
            </a:r>
          </a:p>
          <a:p xmlns:a="http://schemas.openxmlformats.org/drawingml/2006/main">
            <a:r>
              <a:t>Choose Build an application before starting. A new request creates a run and opens Runs. If no workflow exists, use Workflows, Browse templates, and load Build an application once. The current studio already has both templates. Starting this request uses the configured provider allowance. The screenshot shows a draft request in the real form.</a:t>
            </a:r>
          </a:p>
          <a:p xmlns:a="http://schemas.openxmlformats.org/drawingml/2006/main">
            <a:r>
              <a:t/>
            </a:r>
          </a:p>
          <a:p xmlns:a="http://schemas.openxmlformats.org/drawingml/2006/main">
            <a:r>
              <a:t>Sources: /Users/adam/orbitflow-v2/src/web/App.tsx; /Users/adam/orbitflow-v2/src/server/seed.ts;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Workflows contains an editable build/review graph. Default Build routes outcome review to Review. Review routes revise back to Build and treats approved as a terminal outcome. The improve template uses the same pattern with Improver and Regression Reviewer. Reviewer checks source. The default review does not prove that a person has used the app in a browser. Exact outcome strings are part of execution, so agent instructions and route conditions must agree.</a:t>
            </a:r>
          </a:p>
          <a:p xmlns:a="http://schemas.openxmlformats.org/drawingml/2006/main">
            <a:r>
              <a:t/>
            </a:r>
          </a:p>
          <a:p xmlns:a="http://schemas.openxmlformats.org/drawingml/2006/main">
            <a:r>
              <a:t>Sources: /Users/adam/orbitflow-v2/src/server/seed.ts; /Users/adam/orbitflow-v2/src/web/App.tsx;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illustrated completed cloud checklist ran four actual turns: build, review feedback, revision, and review approval. The screenshot shows the retained token and cost records for that run. It is an example, not a price estimate. While work runs, the UI labels cost as completed-turn cost because the current turn may still be unreported. Saved execution setup exposes the runtime inputs used by this run. Template loading creates agent copies, so inspect the saved identities before editing a similarly named agent.</a:t>
            </a:r>
          </a:p>
          <a:p xmlns:a="http://schemas.openxmlformats.org/drawingml/2006/main">
            <a:r>
              <a:t/>
            </a:r>
          </a:p>
          <a:p xmlns:a="http://schemas.openxmlformats.org/drawingml/2006/main">
            <a:r>
              <a:t>Sources: /Users/adam/orbitflow-v2/src/web/App.tsx; /Users/adam/orbitflow-v2/docs/cloud-deployment-evidence.md;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Source to inspect the immutable retained files. Open Preview to use the generated browser app on its own origin. For the checklist, add two example tasks, mark one complete, reload, then delete one and reload again. Check the displayed remaining count. If the browser blocks the new preview window, allow pop-ups for this studio and retry Preview. App data lives in the browser profile's localStorage. OrbitFlow retains source in its database. Improvements keep the same application origin, but the generated code must also preserve storage compatibility. This screenshot opens the existing cloud checklist in a fresh browser profile, so its list is empty.</a:t>
            </a:r>
          </a:p>
          <a:p xmlns:a="http://schemas.openxmlformats.org/drawingml/2006/main">
            <a:r>
              <a:t/>
            </a:r>
          </a:p>
          <a:p xmlns:a="http://schemas.openxmlformats.org/drawingml/2006/main">
            <a:r>
              <a:t>Sources: /Users/adam/orbitflow-v2/src/web/App.tsx; /Users/adam/orbitflow-v2/docs/cloud-deployment-evidence.md;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approval area appears only while a run awaits a decision. Inspect the exact current source and preview before choosing Approve revision. Rejection requires nonempty feedback and returns to the entry node with retained files. A run using Approve every turn first shows Allow the next agent turn and the Allow turn button. That permission differs from final revision acceptance. Approval does not deploy the generated app to a new public site. The autonomous policy can finish without this human pause. The feedback sentence on this slide is hypothetical.</a:t>
            </a:r>
          </a:p>
          <a:p xmlns:a="http://schemas.openxmlformats.org/drawingml/2006/main">
            <a:r>
              <a:t/>
            </a:r>
          </a:p>
          <a:p xmlns:a="http://schemas.openxmlformats.org/drawingml/2006/main">
            <a:r>
              <a:t>Sources: /Users/adam/orbitflow-v2/src/web/App.tsx;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Improve application button on a completed run asks what should change and starts the improvement from that run's approved revision. Alternatively, Overview exposes the improvement workflow and Approved source application selector. Use this example request: Add a search box that filters tasks by text. Keep saved tasks and completion states.</a:t>
            </a:r>
          </a:p>
          <a:p xmlns:a="http://schemas.openxmlformats.org/drawingml/2006/main">
            <a:r>
              <a:t>After the new run reaches approval, test search with matching and nonmatching text. Clear the query and confirm that every saved task returns. Reload and confirm completion states survive. Approve only the revision you inspected. The screenshot shows an unsent form.</a:t>
            </a:r>
          </a:p>
          <a:p xmlns:a="http://schemas.openxmlformats.org/drawingml/2006/main">
            <a:r>
              <a:t/>
            </a:r>
          </a:p>
          <a:p xmlns:a="http://schemas.openxmlformats.org/drawingml/2006/main">
            <a:r>
              <a:t>Sources: /Users/adam/orbitflow-v2/src/web/App.tsx;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short /improve flow requires exactly one loaded improvement workflow. It selects the latest approved application and then asks for a change. /improve followed by the change in the same message also works. For a specific app, use /improve &lt;workflow ID&gt; &lt;approved run ID&gt; &lt;request&gt;. Copy workflow IDs from Workflows and run IDs from Runs. Telegram-created runs support /approve &lt;run ID&gt; &lt;approval token&gt; and /reject &lt;run ID&gt; &lt;approval token&gt; &lt;feedback&gt;. Copy the full current command from the bot reply rather than guessing a token. The allowlisted private chat is the only accepted sender. Ordinary conversation also uses provider credit. A full local Telegram build-improvement flow was recorded. The cloud bot is configured, and the production Telegram walkthrough remains pending acceptance in the deployment evidence.</a:t>
            </a:r>
          </a:p>
          <a:p xmlns:a="http://schemas.openxmlformats.org/drawingml/2006/main">
            <a:r>
              <a:t/>
            </a:r>
          </a:p>
          <a:p xmlns:a="http://schemas.openxmlformats.org/drawingml/2006/main">
            <a:r>
              <a:t>Sources: /Users/adam/orbitflow-v2/README.md; /Users/adam/orbitflow-v2/src/server/integrations.ts; /Users/adam/orbitflow-v2/docs/PRODUCTION.md; /Users/adam/orbitflow-v2/docs/cloud-deployment-evidence.md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create an agent, click New agent and fill its required name, role, system prompt, and model. The exact approval labels are Work autonomously, Approve before preview release, and Approve every turn. Changes apply to new runs. The screenshot is Builder copy, which participates in the existing loaded build workflow, rather than the original seed Builder. A configured model ID is required. To remove an agent, use its trash control. An agent referenced by a workflow cannot be deleted until that reference is removed.</a:t>
            </a:r>
          </a:p>
          <a:p xmlns:a="http://schemas.openxmlformats.org/drawingml/2006/main">
            <a:r>
              <a:t/>
            </a:r>
          </a:p>
          <a:p xmlns:a="http://schemas.openxmlformats.org/drawingml/2006/main">
            <a:r>
              <a:t>Sources: /Users/adam/orbitflow-v2/src/web/App.tsx; /Users/adam/orbitflow-v2/src/server/index.ts; /Users/adam/orbitflow-v2/src/server/seed.ts</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Tools and Memory each accept one entry per line. Supported static-file tools include read, write, edit, glob, and grep. Reviewer defaults use read, glob, and grep. Blocked actions remove tools even if the Tools list includes them. Memory entries and named skill steps enter future runtime turns. Add skill updates the form draft. Save agent persists the whole configuration. The example memory text is a suggested preference and was not saved. The generated-app boundary does not gain shell access just because an arbitrary name appears in the form.</a:t>
            </a:r>
          </a:p>
          <a:p xmlns:a="http://schemas.openxmlformats.org/drawingml/2006/main">
            <a:r>
              <a:t/>
            </a:r>
          </a:p>
          <a:p xmlns:a="http://schemas.openxmlformats.org/drawingml/2006/main">
            <a:r>
              <a:t>Sources: /Users/adam/orbitflow-v2/src/web/App.tsx; /Users/adam/orbitflow-v2/src/server/runtime.ts; /Users/adam/orbitflow-v2/src/server/seed.ts;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global provider allowance and the agent's remaining per-run limit both apply. Before a turn, OrbitFlow uses the smaller remaining allowance. Runtime reporting can lag an in-flight request, so the application limit is not a guaranteed hard billing cap. Unknown cost blocks further paid turns until reconciled. Max turns counts that agent's invocations within the run. Calls per hour checks recent invocations. Keep the first exercise bounded and leave schedules off until deliberate recurring work is needed. Do not increase the authorized total simply because the provider account permits more spending.</a:t>
            </a:r>
          </a:p>
          <a:p xmlns:a="http://schemas.openxmlformats.org/drawingml/2006/main">
            <a:r>
              <a:t/>
            </a:r>
          </a:p>
          <a:p xmlns:a="http://schemas.openxmlformats.org/drawingml/2006/main">
            <a:r>
              <a:t>Sources: /Users/adam/orbitflow-v2/src/web/App.tsx; /Users/adam/orbitflow-v2/src/server/engine.ts;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exposes schedule fields in an unsaved form. Schedules remain off in the existing deployment. The expression field accepts cron syntax or an interval such as @every 1h. Select Run this agent alone or a workflow that actually contains the agent, enter a scheduled request, and save. The next wake or an error appears after saving. Scheduled work can create paid turns. Switch it off and save when finished. The Telegram conversation toggle controls which saved agent receives ordinary messages from the configured allowlisted chat. Keep exactly one agent connected. Bot credentials and chat identity belong in server configuration.</a:t>
            </a:r>
          </a:p>
          <a:p xmlns:a="http://schemas.openxmlformats.org/drawingml/2006/main">
            <a:r>
              <a:t/>
            </a:r>
          </a:p>
          <a:p xmlns:a="http://schemas.openxmlformats.org/drawingml/2006/main">
            <a:r>
              <a:t>Sources: /Users/adam/orbitflow-v2/src/web/App.tsx; /Users/adam/orbitflow-v2/src/server/integrations.ts;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Browse templates for an independent editable copy, or New workflow for an empty graph. A new empty graph needs agents, an entry node, and routes or terminal outcomes. Add route lets you select From node, Outcome condition, and To node. The default builder uses review and the default reviewer returns approved or revise. Resolution checks an exact route first, then an explicit terminal outcome, then the wildcard * route. An unmatched outcome fails with its allowed values instead of silently taking a guessed path. Enable Requires an approved source application for an improvement workflow. Save changes before a new run. Older runs retain their original graph snapshot.</a:t>
            </a:r>
          </a:p>
          <a:p xmlns:a="http://schemas.openxmlformats.org/drawingml/2006/main">
            <a:r>
              <a:t/>
            </a:r>
          </a:p>
          <a:p xmlns:a="http://schemas.openxmlformats.org/drawingml/2006/main">
            <a:r>
              <a:t>Sources: /Users/adam/orbitflow-v2/src/web/App.tsx; /Users/adam/orbitflow-v2/src/server/seed.ts;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Resume is shown for failed runs and is disabled while provider cost remains unknown. Enter only verified provider usage in Reconcile provider usage, then resume from the retained node. A resumed run keeps its original configuration and does not replay completed turns. If the saved configuration caused the failure, editing the current agent will not change that snapshot. Use a new run after changing settings. For a depleted total allowance, seek authorization before raising it. Cancellation stops further work, but usage already in flight may be incomplete. In the preview, an apparently empty app in another browser profile reflects separate localStorage. If short Telegram /improve cannot select an app, use its explicit workflow and approved-run form.</a:t>
            </a:r>
          </a:p>
          <a:p xmlns:a="http://schemas.openxmlformats.org/drawingml/2006/main">
            <a:r>
              <a:t/>
            </a:r>
          </a:p>
          <a:p xmlns:a="http://schemas.openxmlformats.org/drawingml/2006/main">
            <a:r>
              <a:t>Sources: /Users/adam/orbitflow-v2/src/web/App.tsx;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exercise uses real provider turns and the existing authorized budget. You can start by inspecting the retained cloud checklist before creating another app. Success means you personally used the new app, observed the review conversation, verified saved data after reload, and checked the improved version before approving it. If multiple approved apps exist, make sure Telegram targets the intended one. Use the explicit /improve form to remove ambiguity. Local and cloud history are separate. The recorded demo is at docs/demo/orbitflow-real-demo.mp4 and shows the earlier local workout-tracker flow.</a:t>
            </a:r>
          </a:p>
          <a:p xmlns:a="http://schemas.openxmlformats.org/drawingml/2006/main">
            <a:r>
              <a:t/>
            </a:r>
          </a:p>
          <a:p xmlns:a="http://schemas.openxmlformats.org/drawingml/2006/main">
            <a:r>
              <a:t>Sources: /Users/adam/orbitflow-v2/docs/PRODUCTION.md; /Users/adam/orbitflow-v2/docs/WALKTHROUGH.md; /Users/adam/orbitflow-v2/README.md</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npm run setup from the repository after installing Node 22.12+ and starting Docker Desktop. Setup installs locked packages, starts this project's PostgreSQL container, builds the runtime image and web UI, then starts the studio. Editing and history inspection work without a configured model provider. Real turns require an authorized provider credential and budget in .env. Copy .env.example for a new local configuration, never include secrets in a prompt. Ctrl-C stops the application executor and its active turn while retaining the database volume. docker compose stop stops this repository's database. Do not delete the volume merely to restart. The v2 Telegram bot currently belongs to the cloud consumer. Do not start a second local consumer with the same token. Preview apps use separate origins on port 4312 and per-profile localStorage.</a:t>
            </a:r>
          </a:p>
          <a:p xmlns:a="http://schemas.openxmlformats.org/drawingml/2006/main">
            <a:r>
              <a:t/>
            </a:r>
          </a:p>
          <a:p xmlns:a="http://schemas.openxmlformats.org/drawingml/2006/main">
            <a:r>
              <a:t>Sources: /Users/adam/orbitflow-v2/README.md; /Users/adam/orbitflow-v2/docs/PRODUCTION.md; /Users/adam/orbitflow-v2/scripts/setup.sh</a:t>
            </a:r>
          </a:p>
          <a:p xmlns:a="http://schemas.openxmlformats.org/drawingml/2006/main">
            <a:r>
              <a:t>Live interface: https://orbitflow.adamroch.com, inspected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30a46b706649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edbdcf497b42e9" /><Relationship Type="http://schemas.openxmlformats.org/officeDocument/2006/relationships/slideLayout" Target="/ppt/slideLayouts/slideLayout1.xml" Id="Rbd957cc8b7fd4e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57cc8b7fd4e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ba247b33534a8c" /><Relationship Type="http://schemas.openxmlformats.org/officeDocument/2006/relationships/hyperlink" Target="https://orbitflow.adamroch.com" TargetMode="External" Id="R08feb18199d74479" /><Relationship Type="http://schemas.openxmlformats.org/officeDocument/2006/relationships/notesSlide" Target="/ppt/notesSlides/notesSlide1.xml" Id="R66d7ebc4490940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0606448e164a75" /><Relationship Type="http://schemas.openxmlformats.org/officeDocument/2006/relationships/image" Target="/ppt/media/image.png" Id="R424f4dd747a94af4" /><Relationship Type="http://schemas.openxmlformats.org/officeDocument/2006/relationships/notesSlide" Target="/ppt/notesSlides/notesSlide2.xml" Id="R83f49944107b44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4b52a6e239d4aa4" /><Relationship Type="http://schemas.openxmlformats.org/officeDocument/2006/relationships/image" Target="/ppt/media/image2.png" Id="R447d17f6adbd4cf2" /><Relationship Type="http://schemas.openxmlformats.org/officeDocument/2006/relationships/notesSlide" Target="/ppt/notesSlides/notesSlide3.xml" Id="R83526e8e37ee4e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34ce9089e94a1c" /><Relationship Type="http://schemas.openxmlformats.org/officeDocument/2006/relationships/image" Target="/ppt/media/image3.png" Id="R19114a8966db4f51" /><Relationship Type="http://schemas.openxmlformats.org/officeDocument/2006/relationships/notesSlide" Target="/ppt/notesSlides/notesSlide4.xml" Id="R3a9addc41e214c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6523ca74db44038" /><Relationship Type="http://schemas.openxmlformats.org/officeDocument/2006/relationships/image" Target="/ppt/media/image4.png" Id="R3f95b68ae7ee41b5" /><Relationship Type="http://schemas.openxmlformats.org/officeDocument/2006/relationships/notesSlide" Target="/ppt/notesSlides/notesSlide5.xml" Id="Rc60a82b66c2341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36c091438b462d" /><Relationship Type="http://schemas.openxmlformats.org/officeDocument/2006/relationships/image" Target="/ppt/media/image5.png" Id="R8e7c9adb125d4161" /><Relationship Type="http://schemas.openxmlformats.org/officeDocument/2006/relationships/notesSlide" Target="/ppt/notesSlides/notesSlide6.xml" Id="Redb0c04d3a7a45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b349c9b8894472" /><Relationship Type="http://schemas.openxmlformats.org/officeDocument/2006/relationships/image" Target="/ppt/media/image6.png" Id="R137f5935e96140b5" /><Relationship Type="http://schemas.openxmlformats.org/officeDocument/2006/relationships/notesSlide" Target="/ppt/notesSlides/notesSlide7.xml" Id="R2dbb3d2a97194e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726c5e72fad4aaf" /><Relationship Type="http://schemas.openxmlformats.org/officeDocument/2006/relationships/notesSlide" Target="/ppt/notesSlides/notesSlide8.xml" Id="R0dde140758ef4e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8937ebc027467d" /><Relationship Type="http://schemas.openxmlformats.org/officeDocument/2006/relationships/image" Target="/ppt/media/image7.png" Id="R95cf2dfd943a4357" /><Relationship Type="http://schemas.openxmlformats.org/officeDocument/2006/relationships/notesSlide" Target="/ppt/notesSlides/notesSlide9.xml" Id="Rb158d1245bfe4b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28c810d02f74a0b" /><Relationship Type="http://schemas.openxmlformats.org/officeDocument/2006/relationships/hyperlink" Target="https://t.me/adam_orbitflow_v2_0906_bot" TargetMode="External" Id="R1af89d6f2f3445b1" /><Relationship Type="http://schemas.openxmlformats.org/officeDocument/2006/relationships/notesSlide" Target="/ppt/notesSlides/notesSlide10.xml" Id="Rc7c65cee8a8340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fb10e6b84e483c" /><Relationship Type="http://schemas.openxmlformats.org/officeDocument/2006/relationships/image" Target="/ppt/media/image8.png" Id="R5b6fb4e5f3bb4aac" /><Relationship Type="http://schemas.openxmlformats.org/officeDocument/2006/relationships/notesSlide" Target="/ppt/notesSlides/notesSlide11.xml" Id="Re48bda63571346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a3c7e0e57a9457e" /><Relationship Type="http://schemas.openxmlformats.org/officeDocument/2006/relationships/image" Target="/ppt/media/image9.png" Id="R874d014f2fa6432f" /><Relationship Type="http://schemas.openxmlformats.org/officeDocument/2006/relationships/notesSlide" Target="/ppt/notesSlides/notesSlide12.xml" Id="R842f2d38a61d42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7ae1d09595848c9" /><Relationship Type="http://schemas.openxmlformats.org/officeDocument/2006/relationships/image" Target="/ppt/media/image10.png" Id="R72c62291e9254154" /><Relationship Type="http://schemas.openxmlformats.org/officeDocument/2006/relationships/notesSlide" Target="/ppt/notesSlides/notesSlide13.xml" Id="Re76d85df0bc248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308efc252d41c7" /><Relationship Type="http://schemas.openxmlformats.org/officeDocument/2006/relationships/image" Target="/ppt/media/image11.png" Id="R886382596e3947d2" /><Relationship Type="http://schemas.openxmlformats.org/officeDocument/2006/relationships/notesSlide" Target="/ppt/notesSlides/notesSlide14.xml" Id="R974eaae87e9d4d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a470c0f38ac478e" /><Relationship Type="http://schemas.openxmlformats.org/officeDocument/2006/relationships/image" Target="/ppt/media/image12.png" Id="R5f3b7d7e73664d63" /><Relationship Type="http://schemas.openxmlformats.org/officeDocument/2006/relationships/notesSlide" Target="/ppt/notesSlides/notesSlide15.xml" Id="R6b94a2814cc54c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e67a6539aca4e57" /><Relationship Type="http://schemas.openxmlformats.org/officeDocument/2006/relationships/notesSlide" Target="/ppt/notesSlides/notesSlide16.xml" Id="Rcb28f2531a71419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50a2708a1f44ba" /><Relationship Type="http://schemas.openxmlformats.org/officeDocument/2006/relationships/notesSlide" Target="/ppt/notesSlides/notesSlide17.xml" Id="R71189dbc4f8d4de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6c806dd90924fcf" /><Relationship Type="http://schemas.openxmlformats.org/officeDocument/2006/relationships/notesSlide" Target="/ppt/notesSlides/notesSlide18.xml" Id="Rd571ac45983e48fd" /></Relationships>
</file>

<file path=ppt/slides/slide1.xml><?xml version="1.0" encoding="utf-8"?>
<p:sld xmlns:p="http://schemas.openxmlformats.org/presentationml/2006/main">
  <p:cSld>
    <p:bg>
      <p:bgPr>
        <a:solidFill xmlns:a="http://schemas.openxmlformats.org/drawingml/2006/main">
          <a:srgbClr val="0C1714"/>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A144E55-5414-4D3D-81B1-FBF9B33A9803}"/>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2D6A8"/>
                </a:solidFill>
                <a:latin typeface="Helvetica Neue"/>
                <a:ea typeface="Helvetica Neue"/>
                <a:cs typeface="Helvetica Neue"/>
              </a:defRPr>
            </a:pPr>
            <a:r>
              <a:rPr sz="1350" b="0">
                <a:solidFill>
                  <a:srgbClr val="72D6A8"/>
                </a:solidFill>
                <a:latin typeface="Helvetica Neue"/>
                <a:ea typeface="Helvetica Neue"/>
                <a:cs typeface="Helvetica Neue"/>
              </a:rPr>
              <a:t>01</a:t>
            </a:r>
          </a:p>
        </p:txBody>
      </p:sp>
      <p:sp>
        <p:nvSpPr>
          <p:cNvPr id="2" name="text-1">
            <a:extLst xmlns:a="http://schemas.openxmlformats.org/drawingml/2006/main">
              <a:ext uri="{FF2B5EF4-FFF2-40B4-BE49-F238E27FC236}">
                <a16:creationId xmlns:a16="http://schemas.microsoft.com/office/drawing/2014/main" id="{27A35DF1-048F-4CB3-8A14-25FEDF5A4184}"/>
              </a:ext>
            </a:extLst>
          </p:cNvPr>
          <p:cNvSpPr>
            <a:spLocks xmlns:a="http://schemas.openxmlformats.org/drawingml/2006/main" noGrp="1"/>
          </p:cNvSpPr>
          <p:nvPr/>
        </p:nvSpPr>
        <p:spPr>
          <a:xfrm xmlns:a="http://schemas.openxmlformats.org/drawingml/2006/main">
            <a:off x="762000" y="742950"/>
            <a:ext cx="1238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450" b="1">
                <a:solidFill>
                  <a:srgbClr val="FFFFFF"/>
                </a:solidFill>
                <a:latin typeface="Helvetica Neue"/>
                <a:ea typeface="Helvetica Neue"/>
                <a:cs typeface="Helvetica Neue"/>
              </a:defRPr>
            </a:pPr>
            <a:r>
              <a:rPr sz="6450" b="1">
                <a:solidFill>
                  <a:srgbClr val="FFFFFF"/>
                </a:solidFill>
                <a:latin typeface="Helvetica Neue"/>
                <a:ea typeface="Helvetica Neue"/>
                <a:cs typeface="Helvetica Neue"/>
              </a:rPr>
              <a:t>OrbitFlow</a:t>
            </a:r>
          </a:p>
        </p:txBody>
      </p:sp>
      <p:sp>
        <p:nvSpPr>
          <p:cNvPr id="3" name="text-2">
            <a:extLst xmlns:a="http://schemas.openxmlformats.org/drawingml/2006/main">
              <a:ext uri="{FF2B5EF4-FFF2-40B4-BE49-F238E27FC236}">
                <a16:creationId xmlns:a16="http://schemas.microsoft.com/office/drawing/2014/main" id="{0718D808-9965-462D-AE2F-AE677E7FB820}"/>
              </a:ext>
            </a:extLst>
          </p:cNvPr>
          <p:cNvSpPr>
            <a:spLocks xmlns:a="http://schemas.openxmlformats.org/drawingml/2006/main" noGrp="1"/>
          </p:cNvSpPr>
          <p:nvPr/>
        </p:nvSpPr>
        <p:spPr>
          <a:xfrm xmlns:a="http://schemas.openxmlformats.org/drawingml/2006/main">
            <a:off x="800100" y="2314575"/>
            <a:ext cx="1304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0">
                <a:solidFill>
                  <a:srgbClr val="72D6A8"/>
                </a:solidFill>
                <a:latin typeface="Helvetica Neue"/>
                <a:ea typeface="Helvetica Neue"/>
                <a:cs typeface="Helvetica Neue"/>
              </a:defRPr>
            </a:pPr>
            <a:r>
              <a:rPr sz="4650" b="0">
                <a:solidFill>
                  <a:srgbClr val="72D6A8"/>
                </a:solidFill>
                <a:latin typeface="Helvetica Neue"/>
                <a:ea typeface="Helvetica Neue"/>
                <a:cs typeface="Helvetica Neue"/>
              </a:rPr>
              <a:t>A hands-on tutorial</a:t>
            </a:r>
          </a:p>
        </p:txBody>
      </p:sp>
      <p:sp>
        <p:nvSpPr>
          <p:cNvPr id="4" name="text-3">
            <a:extLst xmlns:a="http://schemas.openxmlformats.org/drawingml/2006/main">
              <a:ext uri="{FF2B5EF4-FFF2-40B4-BE49-F238E27FC236}">
                <a16:creationId xmlns:a16="http://schemas.microsoft.com/office/drawing/2014/main" id="{F67E0936-E820-45B6-9562-524D728B868E}"/>
              </a:ext>
            </a:extLst>
          </p:cNvPr>
          <p:cNvSpPr>
            <a:spLocks xmlns:a="http://schemas.openxmlformats.org/drawingml/2006/main" noGrp="1"/>
          </p:cNvSpPr>
          <p:nvPr/>
        </p:nvSpPr>
        <p:spPr>
          <a:xfrm xmlns:a="http://schemas.openxmlformats.org/drawingml/2006/main">
            <a:off x="800100" y="3943350"/>
            <a:ext cx="1171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D7E6DD"/>
                </a:solidFill>
                <a:latin typeface="Helvetica Neue"/>
                <a:ea typeface="Helvetica Neue"/>
                <a:cs typeface="Helvetica Neue"/>
              </a:defRPr>
            </a:pPr>
            <a:r>
              <a:rPr sz="3000" b="0">
                <a:solidFill>
                  <a:srgbClr val="D7E6DD"/>
                </a:solidFill>
                <a:latin typeface="Helvetica Neue"/>
                <a:ea typeface="Helvetica Neue"/>
                <a:cs typeface="Helvetica Neue"/>
              </a:rPr>
              <a:t>Build a browser app, review the result,</a:t>
            </a:r>
          </a:p>
          <a:p xmlns:a="http://schemas.openxmlformats.org/drawingml/2006/main">
            <a:pPr>
              <a:defRPr sz="3000" b="0">
                <a:solidFill>
                  <a:srgbClr val="D7E6DD"/>
                </a:solidFill>
                <a:latin typeface="Helvetica Neue"/>
                <a:ea typeface="Helvetica Neue"/>
                <a:cs typeface="Helvetica Neue"/>
              </a:defRPr>
            </a:pPr>
            <a:r>
              <a:rPr sz="3000" b="0">
                <a:solidFill>
                  <a:srgbClr val="D7E6DD"/>
                </a:solidFill>
                <a:latin typeface="Helvetica Neue"/>
                <a:ea typeface="Helvetica Neue"/>
                <a:cs typeface="Helvetica Neue"/>
              </a:rPr>
              <a:t>and request a change through Telegram.</a:t>
            </a:r>
          </a:p>
        </p:txBody>
      </p:sp>
      <p:sp>
        <p:nvSpPr>
          <p:cNvPr id="5" name="text-4">
            <a:extLst xmlns:a="http://schemas.openxmlformats.org/drawingml/2006/main">
              <a:ext uri="{FF2B5EF4-FFF2-40B4-BE49-F238E27FC236}">
                <a16:creationId xmlns:a16="http://schemas.microsoft.com/office/drawing/2014/main" id="{04DF5BE6-03C1-42EC-A6B2-1CE4F9B26456}"/>
              </a:ext>
            </a:extLst>
          </p:cNvPr>
          <p:cNvSpPr>
            <a:spLocks xmlns:a="http://schemas.openxmlformats.org/drawingml/2006/main" noGrp="1"/>
          </p:cNvSpPr>
          <p:nvPr/>
        </p:nvSpPr>
        <p:spPr>
          <a:xfrm xmlns:a="http://schemas.openxmlformats.org/drawingml/2006/main">
            <a:off x="800100" y="678180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72D6A8"/>
                </a:solidFill>
                <a:latin typeface="Helvetica Neue"/>
                <a:ea typeface="Helvetica Neue"/>
                <a:cs typeface="Helvetica Neue"/>
              </a:defRPr>
            </a:pPr>
            <a:r>
              <a:rPr>
                <a:hlinkClick xmlns:r="http://schemas.openxmlformats.org/officeDocument/2006/relationships" r:id="R08feb18199d74479"/>
              </a:rPr>
              <a:t>orbitflow.adamroch.com</a:t>
            </a:r>
          </a:p>
        </p:txBody>
      </p:sp>
      <p:sp>
        <p:nvSpPr>
          <p:cNvPr id="6" name="text-5">
            <a:extLst xmlns:a="http://schemas.openxmlformats.org/drawingml/2006/main">
              <a:ext uri="{FF2B5EF4-FFF2-40B4-BE49-F238E27FC236}">
                <a16:creationId xmlns:a16="http://schemas.microsoft.com/office/drawing/2014/main" id="{6DF053E1-2A87-4AC7-BCEB-ABE1A89BADED}"/>
              </a:ext>
            </a:extLst>
          </p:cNvPr>
          <p:cNvSpPr>
            <a:spLocks xmlns:a="http://schemas.openxmlformats.org/drawingml/2006/main" noGrp="1"/>
          </p:cNvSpPr>
          <p:nvPr/>
        </p:nvSpPr>
        <p:spPr>
          <a:xfrm xmlns:a="http://schemas.openxmlformats.org/drawingml/2006/main">
            <a:off x="800100" y="75057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3AB9D"/>
                </a:solidFill>
                <a:latin typeface="Helvetica Neue"/>
                <a:ea typeface="Helvetica Neue"/>
                <a:cs typeface="Helvetica Neue"/>
              </a:defRPr>
            </a:pPr>
            <a:r>
              <a:rPr sz="1725" b="0">
                <a:solidFill>
                  <a:srgbClr val="93AB9D"/>
                </a:solidFill>
                <a:latin typeface="Helvetica Neue"/>
                <a:ea typeface="Helvetica Neue"/>
                <a:cs typeface="Helvetica Neue"/>
              </a:rPr>
              <a:t>Current v2 interface · September 16, 2026</a:t>
            </a:r>
          </a:p>
        </p:txBody>
      </p:sp>
    </p:spTree>
    <p:extLst>
      <p:ext uri="{BB962C8B-B14F-4D97-AF65-F5344CB8AC3E}">
        <p14:creationId xmlns:p14="http://schemas.microsoft.com/office/powerpoint/2010/main" val="745718083"/>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3C10F8FC-FAFF-4B90-87C7-EFE0C4D3E2A1}"/>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The studio at a glance</a:t>
            </a:r>
          </a:p>
        </p:txBody>
      </p:sp>
      <p:sp>
        <p:nvSpPr>
          <p:cNvPr id="2" name="text-1">
            <a:extLst xmlns:a="http://schemas.openxmlformats.org/drawingml/2006/main">
              <a:ext uri="{FF2B5EF4-FFF2-40B4-BE49-F238E27FC236}">
                <a16:creationId xmlns:a16="http://schemas.microsoft.com/office/drawing/2014/main" id="{44505AF7-04E8-4580-A732-0804A9BB5A27}"/>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24f4dd747a94af4"/>
          <a:stretch xmlns:a="http://schemas.openxmlformats.org/drawingml/2006/main"/>
        </p:blipFill>
        <p:spPr>
          <a:xfrm xmlns:a="http://schemas.openxmlformats.org/drawingml/2006/main">
            <a:off x="1259205" y="1733550"/>
            <a:ext cx="8435340" cy="5857875"/>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384ACB03-9A4E-4AFD-8A3C-0619EB147FC7}"/>
              </a:ext>
            </a:extLst>
          </p:cNvPr>
          <p:cNvSpPr>
            <a:spLocks xmlns:a="http://schemas.openxmlformats.org/drawingml/2006/main" noGrp="1"/>
          </p:cNvSpPr>
          <p:nvPr/>
        </p:nvSpPr>
        <p:spPr>
          <a:xfrm xmlns:a="http://schemas.openxmlformats.org/drawingml/2006/main">
            <a:off x="10763250" y="195262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Overview</a:t>
            </a:r>
          </a:p>
        </p:txBody>
      </p:sp>
      <p:sp>
        <p:nvSpPr>
          <p:cNvPr id="5" name="text-3">
            <a:extLst xmlns:a="http://schemas.openxmlformats.org/drawingml/2006/main">
              <a:ext uri="{FF2B5EF4-FFF2-40B4-BE49-F238E27FC236}">
                <a16:creationId xmlns:a16="http://schemas.microsoft.com/office/drawing/2014/main" id="{429085FD-9636-48C5-85B3-8DBE83F6EC57}"/>
              </a:ext>
            </a:extLst>
          </p:cNvPr>
          <p:cNvSpPr>
            <a:spLocks xmlns:a="http://schemas.openxmlformats.org/drawingml/2006/main" noGrp="1"/>
          </p:cNvSpPr>
          <p:nvPr/>
        </p:nvSpPr>
        <p:spPr>
          <a:xfrm xmlns:a="http://schemas.openxmlformats.org/drawingml/2006/main">
            <a:off x="10763250" y="2409825"/>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41F"/>
                </a:solidFill>
                <a:latin typeface="Helvetica Neue"/>
                <a:ea typeface="Helvetica Neue"/>
                <a:cs typeface="Helvetica Neue"/>
              </a:defRPr>
            </a:pPr>
            <a:r>
              <a:rPr sz="2025" b="0">
                <a:solidFill>
                  <a:srgbClr val="18241F"/>
                </a:solidFill>
                <a:latin typeface="Helvetica Neue"/>
                <a:ea typeface="Helvetica Neue"/>
                <a:cs typeface="Helvetica Neue"/>
              </a:rPr>
              <a:t>Submit a request.</a:t>
            </a:r>
          </a:p>
        </p:txBody>
      </p:sp>
      <p:sp>
        <p:nvSpPr>
          <p:cNvPr id="6" name="text-4">
            <a:extLst xmlns:a="http://schemas.openxmlformats.org/drawingml/2006/main">
              <a:ext uri="{FF2B5EF4-FFF2-40B4-BE49-F238E27FC236}">
                <a16:creationId xmlns:a16="http://schemas.microsoft.com/office/drawing/2014/main" id="{EFAAAA60-2D86-4597-8AD0-A2B8A20D1F96}"/>
              </a:ext>
            </a:extLst>
          </p:cNvPr>
          <p:cNvSpPr>
            <a:spLocks xmlns:a="http://schemas.openxmlformats.org/drawingml/2006/main" noGrp="1"/>
          </p:cNvSpPr>
          <p:nvPr/>
        </p:nvSpPr>
        <p:spPr>
          <a:xfrm xmlns:a="http://schemas.openxmlformats.org/drawingml/2006/main">
            <a:off x="10763250" y="306705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Runs</a:t>
            </a:r>
          </a:p>
        </p:txBody>
      </p:sp>
      <p:sp>
        <p:nvSpPr>
          <p:cNvPr id="7" name="text-5">
            <a:extLst xmlns:a="http://schemas.openxmlformats.org/drawingml/2006/main">
              <a:ext uri="{FF2B5EF4-FFF2-40B4-BE49-F238E27FC236}">
                <a16:creationId xmlns:a16="http://schemas.microsoft.com/office/drawing/2014/main" id="{0F294079-2FF3-417F-864E-997957EC338D}"/>
              </a:ext>
            </a:extLst>
          </p:cNvPr>
          <p:cNvSpPr>
            <a:spLocks xmlns:a="http://schemas.openxmlformats.org/drawingml/2006/main" noGrp="1"/>
          </p:cNvSpPr>
          <p:nvPr/>
        </p:nvSpPr>
        <p:spPr>
          <a:xfrm xmlns:a="http://schemas.openxmlformats.org/drawingml/2006/main">
            <a:off x="10763250" y="352425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41F"/>
                </a:solidFill>
                <a:latin typeface="Helvetica Neue"/>
                <a:ea typeface="Helvetica Neue"/>
                <a:cs typeface="Helvetica Neue"/>
              </a:defRPr>
            </a:pPr>
            <a:r>
              <a:rPr sz="2025" b="0">
                <a:solidFill>
                  <a:srgbClr val="18241F"/>
                </a:solidFill>
                <a:latin typeface="Helvetica Neue"/>
                <a:ea typeface="Helvetica Neue"/>
                <a:cs typeface="Helvetica Neue"/>
              </a:rPr>
              <a:t>Follow work and inspect the app.</a:t>
            </a:r>
          </a:p>
        </p:txBody>
      </p:sp>
      <p:sp>
        <p:nvSpPr>
          <p:cNvPr id="8" name="text-6">
            <a:extLst xmlns:a="http://schemas.openxmlformats.org/drawingml/2006/main">
              <a:ext uri="{FF2B5EF4-FFF2-40B4-BE49-F238E27FC236}">
                <a16:creationId xmlns:a16="http://schemas.microsoft.com/office/drawing/2014/main" id="{D8B22BF0-662E-4F83-A121-90BA72726D8F}"/>
              </a:ext>
            </a:extLst>
          </p:cNvPr>
          <p:cNvSpPr>
            <a:spLocks xmlns:a="http://schemas.openxmlformats.org/drawingml/2006/main" noGrp="1"/>
          </p:cNvSpPr>
          <p:nvPr/>
        </p:nvSpPr>
        <p:spPr>
          <a:xfrm xmlns:a="http://schemas.openxmlformats.org/drawingml/2006/main">
            <a:off x="10763250" y="418147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Agents</a:t>
            </a:r>
          </a:p>
        </p:txBody>
      </p:sp>
      <p:sp>
        <p:nvSpPr>
          <p:cNvPr id="9" name="text-7">
            <a:extLst xmlns:a="http://schemas.openxmlformats.org/drawingml/2006/main">
              <a:ext uri="{FF2B5EF4-FFF2-40B4-BE49-F238E27FC236}">
                <a16:creationId xmlns:a16="http://schemas.microsoft.com/office/drawing/2014/main" id="{70BBAA24-B54E-47B3-910E-98ECBC596FF9}"/>
              </a:ext>
            </a:extLst>
          </p:cNvPr>
          <p:cNvSpPr>
            <a:spLocks xmlns:a="http://schemas.openxmlformats.org/drawingml/2006/main" noGrp="1"/>
          </p:cNvSpPr>
          <p:nvPr/>
        </p:nvSpPr>
        <p:spPr>
          <a:xfrm xmlns:a="http://schemas.openxmlformats.org/drawingml/2006/main">
            <a:off x="10763250" y="4638675"/>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41F"/>
                </a:solidFill>
                <a:latin typeface="Helvetica Neue"/>
                <a:ea typeface="Helvetica Neue"/>
                <a:cs typeface="Helvetica Neue"/>
              </a:defRPr>
            </a:pPr>
            <a:r>
              <a:rPr sz="2025" b="0">
                <a:solidFill>
                  <a:srgbClr val="18241F"/>
                </a:solidFill>
                <a:latin typeface="Helvetica Neue"/>
                <a:ea typeface="Helvetica Neue"/>
                <a:cs typeface="Helvetica Neue"/>
              </a:rPr>
              <a:t>Edit instructions and permissions.</a:t>
            </a:r>
          </a:p>
        </p:txBody>
      </p:sp>
      <p:sp>
        <p:nvSpPr>
          <p:cNvPr id="10" name="text-8">
            <a:extLst xmlns:a="http://schemas.openxmlformats.org/drawingml/2006/main">
              <a:ext uri="{FF2B5EF4-FFF2-40B4-BE49-F238E27FC236}">
                <a16:creationId xmlns:a16="http://schemas.microsoft.com/office/drawing/2014/main" id="{AF2D3206-65F3-4A24-BD16-DDB3F181D1DD}"/>
              </a:ext>
            </a:extLst>
          </p:cNvPr>
          <p:cNvSpPr>
            <a:spLocks xmlns:a="http://schemas.openxmlformats.org/drawingml/2006/main" noGrp="1"/>
          </p:cNvSpPr>
          <p:nvPr/>
        </p:nvSpPr>
        <p:spPr>
          <a:xfrm xmlns:a="http://schemas.openxmlformats.org/drawingml/2006/main">
            <a:off x="10763250" y="52959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Workflows</a:t>
            </a:r>
          </a:p>
        </p:txBody>
      </p:sp>
      <p:sp>
        <p:nvSpPr>
          <p:cNvPr id="11" name="text-9">
            <a:extLst xmlns:a="http://schemas.openxmlformats.org/drawingml/2006/main">
              <a:ext uri="{FF2B5EF4-FFF2-40B4-BE49-F238E27FC236}">
                <a16:creationId xmlns:a16="http://schemas.microsoft.com/office/drawing/2014/main" id="{ED5B739B-E15B-47BF-B752-513856052643}"/>
              </a:ext>
            </a:extLst>
          </p:cNvPr>
          <p:cNvSpPr>
            <a:spLocks xmlns:a="http://schemas.openxmlformats.org/drawingml/2006/main" noGrp="1"/>
          </p:cNvSpPr>
          <p:nvPr/>
        </p:nvSpPr>
        <p:spPr>
          <a:xfrm xmlns:a="http://schemas.openxmlformats.org/drawingml/2006/main">
            <a:off x="10763250" y="575310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41F"/>
                </a:solidFill>
                <a:latin typeface="Helvetica Neue"/>
                <a:ea typeface="Helvetica Neue"/>
                <a:cs typeface="Helvetica Neue"/>
              </a:defRPr>
            </a:pPr>
            <a:r>
              <a:rPr sz="2025" b="0">
                <a:solidFill>
                  <a:srgbClr val="18241F"/>
                </a:solidFill>
                <a:latin typeface="Helvetica Neue"/>
                <a:ea typeface="Helvetica Neue"/>
                <a:cs typeface="Helvetica Neue"/>
              </a:rPr>
              <a:t>Connect agents and feedback routes.</a:t>
            </a:r>
          </a:p>
        </p:txBody>
      </p:sp>
      <p:sp>
        <p:nvSpPr>
          <p:cNvPr id="12" name="text-10">
            <a:extLst xmlns:a="http://schemas.openxmlformats.org/drawingml/2006/main">
              <a:ext uri="{FF2B5EF4-FFF2-40B4-BE49-F238E27FC236}">
                <a16:creationId xmlns:a16="http://schemas.microsoft.com/office/drawing/2014/main" id="{B6FE0526-8A6D-401E-BB82-A5C4B5316D3D}"/>
              </a:ext>
            </a:extLst>
          </p:cNvPr>
          <p:cNvSpPr>
            <a:spLocks xmlns:a="http://schemas.openxmlformats.org/drawingml/2006/main" noGrp="1"/>
          </p:cNvSpPr>
          <p:nvPr/>
        </p:nvSpPr>
        <p:spPr>
          <a:xfrm xmlns:a="http://schemas.openxmlformats.org/drawingml/2006/main">
            <a:off x="10763250" y="6410325"/>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Setup</a:t>
            </a:r>
          </a:p>
        </p:txBody>
      </p:sp>
      <p:sp>
        <p:nvSpPr>
          <p:cNvPr id="13" name="text-11">
            <a:extLst xmlns:a="http://schemas.openxmlformats.org/drawingml/2006/main">
              <a:ext uri="{FF2B5EF4-FFF2-40B4-BE49-F238E27FC236}">
                <a16:creationId xmlns:a16="http://schemas.microsoft.com/office/drawing/2014/main" id="{33A756FE-27CF-4F42-8BF2-DE7FB9C39B20}"/>
              </a:ext>
            </a:extLst>
          </p:cNvPr>
          <p:cNvSpPr>
            <a:spLocks xmlns:a="http://schemas.openxmlformats.org/drawingml/2006/main" noGrp="1"/>
          </p:cNvSpPr>
          <p:nvPr/>
        </p:nvSpPr>
        <p:spPr>
          <a:xfrm xmlns:a="http://schemas.openxmlformats.org/drawingml/2006/main">
            <a:off x="10763250" y="6867525"/>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241F"/>
                </a:solidFill>
                <a:latin typeface="Helvetica Neue"/>
                <a:ea typeface="Helvetica Neue"/>
                <a:cs typeface="Helvetica Neue"/>
              </a:defRPr>
            </a:pPr>
            <a:r>
              <a:rPr sz="2025" b="0">
                <a:solidFill>
                  <a:srgbClr val="18241F"/>
                </a:solidFill>
                <a:latin typeface="Helvetica Neue"/>
                <a:ea typeface="Helvetica Neue"/>
                <a:cs typeface="Helvetica Neue"/>
              </a:rPr>
              <a:t>Check integrations and spending.</a:t>
            </a:r>
          </a:p>
        </p:txBody>
      </p:sp>
    </p:spTree>
    <p:extLst>
      <p:ext uri="{BB962C8B-B14F-4D97-AF65-F5344CB8AC3E}">
        <p14:creationId xmlns:p14="http://schemas.microsoft.com/office/powerpoint/2010/main" val="266764609"/>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6DCC1F8F-82D4-48EE-B973-40C84990CD8E}"/>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Access and readiness</a:t>
            </a:r>
          </a:p>
        </p:txBody>
      </p:sp>
      <p:sp>
        <p:nvSpPr>
          <p:cNvPr id="2" name="text-1">
            <a:extLst xmlns:a="http://schemas.openxmlformats.org/drawingml/2006/main">
              <a:ext uri="{FF2B5EF4-FFF2-40B4-BE49-F238E27FC236}">
                <a16:creationId xmlns:a16="http://schemas.microsoft.com/office/drawing/2014/main" id="{C13948BD-E9F5-40FC-BBC3-63894AEBF9BF}"/>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The cloud studio is already configured. These are the checks before a new run.</a:t>
            </a:r>
          </a:p>
        </p:txBody>
      </p:sp>
      <p:sp>
        <p:nvSpPr>
          <p:cNvPr id="3" name="text-2">
            <a:extLst xmlns:a="http://schemas.openxmlformats.org/drawingml/2006/main">
              <a:ext uri="{FF2B5EF4-FFF2-40B4-BE49-F238E27FC236}">
                <a16:creationId xmlns:a16="http://schemas.microsoft.com/office/drawing/2014/main" id="{7E9D0CED-7FBD-41A8-B220-78E68E0FBBE0}"/>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03</a:t>
            </a:r>
          </a:p>
        </p:txBody>
      </p:sp>
      <p:sp>
        <p:nvSpPr>
          <p:cNvPr id="4" name="text-3">
            <a:extLst xmlns:a="http://schemas.openxmlformats.org/drawingml/2006/main">
              <a:ext uri="{FF2B5EF4-FFF2-40B4-BE49-F238E27FC236}">
                <a16:creationId xmlns:a16="http://schemas.microsoft.com/office/drawing/2014/main" id="{203B1D42-FD99-4817-9F08-C53F39A1A2F4}"/>
              </a:ext>
            </a:extLst>
          </p:cNvPr>
          <p:cNvSpPr>
            <a:spLocks xmlns:a="http://schemas.openxmlformats.org/drawingml/2006/main" noGrp="1"/>
          </p:cNvSpPr>
          <p:nvPr/>
        </p:nvSpPr>
        <p:spPr>
          <a:xfrm xmlns:a="http://schemas.openxmlformats.org/drawingml/2006/main">
            <a:off x="762000" y="2428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01</a:t>
            </a:r>
          </a:p>
        </p:txBody>
      </p:sp>
      <p:sp>
        <p:nvSpPr>
          <p:cNvPr id="5" name="text-4">
            <a:extLst xmlns:a="http://schemas.openxmlformats.org/drawingml/2006/main">
              <a:ext uri="{FF2B5EF4-FFF2-40B4-BE49-F238E27FC236}">
                <a16:creationId xmlns:a16="http://schemas.microsoft.com/office/drawing/2014/main" id="{3A47A0AF-EE12-4388-8B53-624707DF60AA}"/>
              </a:ext>
            </a:extLst>
          </p:cNvPr>
          <p:cNvSpPr>
            <a:spLocks xmlns:a="http://schemas.openxmlformats.org/drawingml/2006/main" noGrp="1"/>
          </p:cNvSpPr>
          <p:nvPr/>
        </p:nvSpPr>
        <p:spPr>
          <a:xfrm xmlns:a="http://schemas.openxmlformats.org/drawingml/2006/main">
            <a:off x="1524000" y="24288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Open the studio</a:t>
            </a:r>
          </a:p>
        </p:txBody>
      </p:sp>
      <p:sp>
        <p:nvSpPr>
          <p:cNvPr id="6" name="text-5">
            <a:extLst xmlns:a="http://schemas.openxmlformats.org/drawingml/2006/main">
              <a:ext uri="{FF2B5EF4-FFF2-40B4-BE49-F238E27FC236}">
                <a16:creationId xmlns:a16="http://schemas.microsoft.com/office/drawing/2014/main" id="{74C6A3A6-7ECA-4766-8DF0-0CCEE460141D}"/>
              </a:ext>
            </a:extLst>
          </p:cNvPr>
          <p:cNvSpPr>
            <a:spLocks xmlns:a="http://schemas.openxmlformats.org/drawingml/2006/main" noGrp="1"/>
          </p:cNvSpPr>
          <p:nvPr/>
        </p:nvSpPr>
        <p:spPr>
          <a:xfrm xmlns:a="http://schemas.openxmlformats.org/drawingml/2006/main">
            <a:off x="1524000" y="2981325"/>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Sign in with your operator login at orbitflow.adamroch.com.</a:t>
            </a:r>
          </a:p>
        </p:txBody>
      </p:sp>
      <p:sp>
        <p:nvSpPr>
          <p:cNvPr id="7" name="text-6">
            <a:extLst xmlns:a="http://schemas.openxmlformats.org/drawingml/2006/main">
              <a:ext uri="{FF2B5EF4-FFF2-40B4-BE49-F238E27FC236}">
                <a16:creationId xmlns:a16="http://schemas.microsoft.com/office/drawing/2014/main" id="{745273D0-08E2-4381-AFCE-46DA17AAADFA}"/>
              </a:ext>
            </a:extLst>
          </p:cNvPr>
          <p:cNvSpPr>
            <a:spLocks xmlns:a="http://schemas.openxmlformats.org/drawingml/2006/main" noGrp="1"/>
          </p:cNvSpPr>
          <p:nvPr/>
        </p:nvSpPr>
        <p:spPr>
          <a:xfrm xmlns:a="http://schemas.openxmlformats.org/drawingml/2006/main">
            <a:off x="762000" y="4476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02</a:t>
            </a:r>
          </a:p>
        </p:txBody>
      </p:sp>
      <p:sp>
        <p:nvSpPr>
          <p:cNvPr id="8" name="text-7">
            <a:extLst xmlns:a="http://schemas.openxmlformats.org/drawingml/2006/main">
              <a:ext uri="{FF2B5EF4-FFF2-40B4-BE49-F238E27FC236}">
                <a16:creationId xmlns:a16="http://schemas.microsoft.com/office/drawing/2014/main" id="{89C909F2-6088-4DFD-B995-52BC13D111E0}"/>
              </a:ext>
            </a:extLst>
          </p:cNvPr>
          <p:cNvSpPr>
            <a:spLocks xmlns:a="http://schemas.openxmlformats.org/drawingml/2006/main" noGrp="1"/>
          </p:cNvSpPr>
          <p:nvPr/>
        </p:nvSpPr>
        <p:spPr>
          <a:xfrm xmlns:a="http://schemas.openxmlformats.org/drawingml/2006/main">
            <a:off x="1524000" y="44767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Check Setup</a:t>
            </a:r>
          </a:p>
        </p:txBody>
      </p:sp>
      <p:sp>
        <p:nvSpPr>
          <p:cNvPr id="9" name="text-8">
            <a:extLst xmlns:a="http://schemas.openxmlformats.org/drawingml/2006/main">
              <a:ext uri="{FF2B5EF4-FFF2-40B4-BE49-F238E27FC236}">
                <a16:creationId xmlns:a16="http://schemas.microsoft.com/office/drawing/2014/main" id="{2A00D6D2-972C-4B89-90E0-66A1C4037CDD}"/>
              </a:ext>
            </a:extLst>
          </p:cNvPr>
          <p:cNvSpPr>
            <a:spLocks xmlns:a="http://schemas.openxmlformats.org/drawingml/2006/main" noGrp="1"/>
          </p:cNvSpPr>
          <p:nvPr/>
        </p:nvSpPr>
        <p:spPr>
          <a:xfrm xmlns:a="http://schemas.openxmlformats.org/drawingml/2006/main">
            <a:off x="1524000" y="5029200"/>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Look for ready core services, a provider budget, and Telegram.</a:t>
            </a:r>
          </a:p>
        </p:txBody>
      </p:sp>
      <p:sp>
        <p:nvSpPr>
          <p:cNvPr id="10" name="text-9">
            <a:extLst xmlns:a="http://schemas.openxmlformats.org/drawingml/2006/main">
              <a:ext uri="{FF2B5EF4-FFF2-40B4-BE49-F238E27FC236}">
                <a16:creationId xmlns:a16="http://schemas.microsoft.com/office/drawing/2014/main" id="{9CBB2050-FECD-4A29-BA3A-D011C913DB9B}"/>
              </a:ext>
            </a:extLst>
          </p:cNvPr>
          <p:cNvSpPr>
            <a:spLocks xmlns:a="http://schemas.openxmlformats.org/drawingml/2006/main" noGrp="1"/>
          </p:cNvSpPr>
          <p:nvPr/>
        </p:nvSpPr>
        <p:spPr>
          <a:xfrm xmlns:a="http://schemas.openxmlformats.org/drawingml/2006/main">
            <a:off x="781050" y="66865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Supported output</a:t>
            </a:r>
          </a:p>
        </p:txBody>
      </p:sp>
      <p:sp>
        <p:nvSpPr>
          <p:cNvPr id="11" name="text-10">
            <a:extLst xmlns:a="http://schemas.openxmlformats.org/drawingml/2006/main">
              <a:ext uri="{FF2B5EF4-FFF2-40B4-BE49-F238E27FC236}">
                <a16:creationId xmlns:a16="http://schemas.microsoft.com/office/drawing/2014/main" id="{C44DCFA2-7194-42FF-8DB1-6CC083B898D9}"/>
              </a:ext>
            </a:extLst>
          </p:cNvPr>
          <p:cNvSpPr>
            <a:spLocks xmlns:a="http://schemas.openxmlformats.org/drawingml/2006/main" noGrp="1"/>
          </p:cNvSpPr>
          <p:nvPr/>
        </p:nvSpPr>
        <p:spPr>
          <a:xfrm xmlns:a="http://schemas.openxmlformats.org/drawingml/2006/main">
            <a:off x="781050" y="7143750"/>
            <a:ext cx="5429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Browser apps with local storage. No app login, payments, or custom backend.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447d17f6adbd4cf2"/>
          <a:stretch xmlns:a="http://schemas.openxmlformats.org/drawingml/2006/main"/>
        </p:blipFill>
        <p:spPr>
          <a:xfrm xmlns:a="http://schemas.openxmlformats.org/drawingml/2006/main">
            <a:off x="6667500" y="2162307"/>
            <a:ext cx="7762875" cy="5390885"/>
          </a:xfrm>
          <a:prstGeom xmlns:a="http://schemas.openxmlformats.org/drawingml/2006/main" prst="rect">
            <a:avLst/>
          </a:prstGeom>
        </p:spPr>
      </p:pic>
    </p:spTree>
    <p:extLst>
      <p:ext uri="{BB962C8B-B14F-4D97-AF65-F5344CB8AC3E}">
        <p14:creationId xmlns:p14="http://schemas.microsoft.com/office/powerpoint/2010/main" val="1769078676"/>
      </p:ext>
    </p:extLst>
  </p:cSld>
</p:sld>
</file>

<file path=ppt/slides/slide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C549535-BFE3-4383-9E0E-4D769F8ABEE6}"/>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Your first build request</a:t>
            </a:r>
          </a:p>
        </p:txBody>
      </p:sp>
      <p:sp>
        <p:nvSpPr>
          <p:cNvPr id="2" name="text-1">
            <a:extLst xmlns:a="http://schemas.openxmlformats.org/drawingml/2006/main">
              <a:ext uri="{FF2B5EF4-FFF2-40B4-BE49-F238E27FC236}">
                <a16:creationId xmlns:a16="http://schemas.microsoft.com/office/drawing/2014/main" id="{102ACDC5-27DB-40A6-9DC4-E4C3507B8DEC}"/>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Overview: choose “Build an application”, enter a request, then click “Start run”.</a:t>
            </a:r>
          </a:p>
        </p:txBody>
      </p:sp>
      <p:sp>
        <p:nvSpPr>
          <p:cNvPr id="3" name="text-2">
            <a:extLst xmlns:a="http://schemas.openxmlformats.org/drawingml/2006/main">
              <a:ext uri="{FF2B5EF4-FFF2-40B4-BE49-F238E27FC236}">
                <a16:creationId xmlns:a16="http://schemas.microsoft.com/office/drawing/2014/main" id="{4B15AE93-1710-4CDF-8B0B-A0E629C27F82}"/>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04</a:t>
            </a:r>
          </a:p>
        </p:txBody>
      </p:sp>
      <p:sp>
        <p:nvSpPr>
          <p:cNvPr id="4" name="text-3">
            <a:extLst xmlns:a="http://schemas.openxmlformats.org/drawingml/2006/main">
              <a:ext uri="{FF2B5EF4-FFF2-40B4-BE49-F238E27FC236}">
                <a16:creationId xmlns:a16="http://schemas.microsoft.com/office/drawing/2014/main" id="{BC96C7A3-F6EA-4D29-A0AF-742E801B2B5C}"/>
              </a:ext>
            </a:extLst>
          </p:cNvPr>
          <p:cNvSpPr>
            <a:spLocks xmlns:a="http://schemas.openxmlformats.org/drawingml/2006/main" noGrp="1"/>
          </p:cNvSpPr>
          <p:nvPr/>
        </p:nvSpPr>
        <p:spPr>
          <a:xfrm xmlns:a="http://schemas.openxmlformats.org/drawingml/2006/main">
            <a:off x="800100" y="2381250"/>
            <a:ext cx="13525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8241F"/>
                </a:solidFill>
                <a:latin typeface="Helvetica Neue"/>
                <a:ea typeface="Helvetica Neue"/>
                <a:cs typeface="Helvetica Neue"/>
              </a:defRPr>
            </a:pPr>
            <a:r>
              <a:rPr sz="3000" b="0">
                <a:solidFill>
                  <a:srgbClr val="18241F"/>
                </a:solidFill>
                <a:latin typeface="Helvetica Neue"/>
                <a:ea typeface="Helvetica Neue"/>
                <a:cs typeface="Helvetica Neue"/>
              </a:rPr>
              <a:t>Build a checklist where I can add tasks, mark them complete, and delete them. Save tasks in this browser so they survive reloads. Use plain HTML, CSS, and JavaScript.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9114a8966db4f51"/>
          <a:stretch xmlns:a="http://schemas.openxmlformats.org/drawingml/2006/main"/>
        </p:blipFill>
        <p:spPr>
          <a:xfrm xmlns:a="http://schemas.openxmlformats.org/drawingml/2006/main">
            <a:off x="1571412" y="4524375"/>
            <a:ext cx="12097175" cy="27622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C9BA9D06-F5B1-407B-9863-889585887634}"/>
              </a:ext>
            </a:extLst>
          </p:cNvPr>
          <p:cNvSpPr>
            <a:spLocks xmlns:a="http://schemas.openxmlformats.org/drawingml/2006/main" noGrp="1"/>
          </p:cNvSpPr>
          <p:nvPr/>
        </p:nvSpPr>
        <p:spPr>
          <a:xfrm xmlns:a="http://schemas.openxmlformats.org/drawingml/2006/main">
            <a:off x="800100" y="7572375"/>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7A55"/>
                </a:solidFill>
                <a:latin typeface="Helvetica Neue"/>
                <a:ea typeface="Helvetica Neue"/>
                <a:cs typeface="Helvetica Neue"/>
              </a:defRPr>
            </a:pPr>
            <a:r>
              <a:rPr sz="2025" b="0">
                <a:solidFill>
                  <a:srgbClr val="147A55"/>
                </a:solidFill>
                <a:latin typeface="Helvetica Neue"/>
                <a:ea typeface="Helvetica Neue"/>
                <a:cs typeface="Helvetica Neue"/>
              </a:rPr>
              <a:t>A useful prompt names the interactions and what must survive a reload.</a:t>
            </a:r>
          </a:p>
        </p:txBody>
      </p:sp>
    </p:spTree>
    <p:extLst>
      <p:ext uri="{BB962C8B-B14F-4D97-AF65-F5344CB8AC3E}">
        <p14:creationId xmlns:p14="http://schemas.microsoft.com/office/powerpoint/2010/main" val="110571199"/>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B603D26-78D2-4F1A-99E1-4A74DA28B053}"/>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The build and review loop</a:t>
            </a:r>
          </a:p>
        </p:txBody>
      </p:sp>
      <p:sp>
        <p:nvSpPr>
          <p:cNvPr id="2" name="text-1">
            <a:extLst xmlns:a="http://schemas.openxmlformats.org/drawingml/2006/main">
              <a:ext uri="{FF2B5EF4-FFF2-40B4-BE49-F238E27FC236}">
                <a16:creationId xmlns:a16="http://schemas.microsoft.com/office/drawing/2014/main" id="{23500CA0-2D66-4D3E-AC2B-7FCDAF3BED91}"/>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The default template sends source review feedback back to the builder.</a:t>
            </a:r>
          </a:p>
        </p:txBody>
      </p:sp>
      <p:sp>
        <p:nvSpPr>
          <p:cNvPr id="3" name="text-2">
            <a:extLst xmlns:a="http://schemas.openxmlformats.org/drawingml/2006/main">
              <a:ext uri="{FF2B5EF4-FFF2-40B4-BE49-F238E27FC236}">
                <a16:creationId xmlns:a16="http://schemas.microsoft.com/office/drawing/2014/main" id="{B594A5FD-51E4-4E65-A553-BFA70CFFE4F3}"/>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05</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f95b68ae7ee41b5"/>
          <a:stretch xmlns:a="http://schemas.openxmlformats.org/drawingml/2006/main"/>
        </p:blipFill>
        <p:spPr>
          <a:xfrm xmlns:a="http://schemas.openxmlformats.org/drawingml/2006/main">
            <a:off x="6286500" y="2573407"/>
            <a:ext cx="8191500" cy="4006712"/>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A9818A9B-9000-4717-B193-64275DB09091}"/>
              </a:ext>
            </a:extLst>
          </p:cNvPr>
          <p:cNvSpPr>
            <a:spLocks xmlns:a="http://schemas.openxmlformats.org/drawingml/2006/main" noGrp="1"/>
          </p:cNvSpPr>
          <p:nvPr/>
        </p:nvSpPr>
        <p:spPr>
          <a:xfrm xmlns:a="http://schemas.openxmlformats.org/drawingml/2006/main">
            <a:off x="762000" y="24479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01</a:t>
            </a:r>
          </a:p>
        </p:txBody>
      </p:sp>
      <p:sp>
        <p:nvSpPr>
          <p:cNvPr id="6" name="text-4">
            <a:extLst xmlns:a="http://schemas.openxmlformats.org/drawingml/2006/main">
              <a:ext uri="{FF2B5EF4-FFF2-40B4-BE49-F238E27FC236}">
                <a16:creationId xmlns:a16="http://schemas.microsoft.com/office/drawing/2014/main" id="{7D8449E2-39A7-4A1C-968B-5D424E1E4BAB}"/>
              </a:ext>
            </a:extLst>
          </p:cNvPr>
          <p:cNvSpPr>
            <a:spLocks xmlns:a="http://schemas.openxmlformats.org/drawingml/2006/main" noGrp="1"/>
          </p:cNvSpPr>
          <p:nvPr/>
        </p:nvSpPr>
        <p:spPr>
          <a:xfrm xmlns:a="http://schemas.openxmlformats.org/drawingml/2006/main">
            <a:off x="1524000" y="2447925"/>
            <a:ext cx="433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Builder produces the app</a:t>
            </a:r>
          </a:p>
        </p:txBody>
      </p:sp>
      <p:sp>
        <p:nvSpPr>
          <p:cNvPr id="7" name="text-5">
            <a:extLst xmlns:a="http://schemas.openxmlformats.org/drawingml/2006/main">
              <a:ext uri="{FF2B5EF4-FFF2-40B4-BE49-F238E27FC236}">
                <a16:creationId xmlns:a16="http://schemas.microsoft.com/office/drawing/2014/main" id="{E6C25807-1E20-49E0-A67E-79D4617A9F91}"/>
              </a:ext>
            </a:extLst>
          </p:cNvPr>
          <p:cNvSpPr>
            <a:spLocks xmlns:a="http://schemas.openxmlformats.org/drawingml/2006/main" noGrp="1"/>
          </p:cNvSpPr>
          <p:nvPr/>
        </p:nvSpPr>
        <p:spPr>
          <a:xfrm xmlns:a="http://schemas.openxmlformats.org/drawingml/2006/main">
            <a:off x="1524000" y="3000375"/>
            <a:ext cx="4333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Its “review” outcome passes the files to Reviewer.</a:t>
            </a:r>
          </a:p>
        </p:txBody>
      </p:sp>
      <p:sp>
        <p:nvSpPr>
          <p:cNvPr id="8" name="text-6">
            <a:extLst xmlns:a="http://schemas.openxmlformats.org/drawingml/2006/main">
              <a:ext uri="{FF2B5EF4-FFF2-40B4-BE49-F238E27FC236}">
                <a16:creationId xmlns:a16="http://schemas.microsoft.com/office/drawing/2014/main" id="{48ABF6ED-3488-4F2B-B2B1-D3AF829B1ECB}"/>
              </a:ext>
            </a:extLst>
          </p:cNvPr>
          <p:cNvSpPr>
            <a:spLocks xmlns:a="http://schemas.openxmlformats.org/drawingml/2006/main" noGrp="1"/>
          </p:cNvSpPr>
          <p:nvPr/>
        </p:nvSpPr>
        <p:spPr>
          <a:xfrm xmlns:a="http://schemas.openxmlformats.org/drawingml/2006/main">
            <a:off x="762000" y="44005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02</a:t>
            </a:r>
          </a:p>
        </p:txBody>
      </p:sp>
      <p:sp>
        <p:nvSpPr>
          <p:cNvPr id="9" name="text-7">
            <a:extLst xmlns:a="http://schemas.openxmlformats.org/drawingml/2006/main">
              <a:ext uri="{FF2B5EF4-FFF2-40B4-BE49-F238E27FC236}">
                <a16:creationId xmlns:a16="http://schemas.microsoft.com/office/drawing/2014/main" id="{13DA7A38-0BDD-4F0A-9A4E-4BFC87018AA7}"/>
              </a:ext>
            </a:extLst>
          </p:cNvPr>
          <p:cNvSpPr>
            <a:spLocks xmlns:a="http://schemas.openxmlformats.org/drawingml/2006/main" noGrp="1"/>
          </p:cNvSpPr>
          <p:nvPr/>
        </p:nvSpPr>
        <p:spPr>
          <a:xfrm xmlns:a="http://schemas.openxmlformats.org/drawingml/2006/main">
            <a:off x="1524000" y="4400550"/>
            <a:ext cx="433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Reviewer checks the source</a:t>
            </a:r>
          </a:p>
        </p:txBody>
      </p:sp>
      <p:sp>
        <p:nvSpPr>
          <p:cNvPr id="10" name="text-8">
            <a:extLst xmlns:a="http://schemas.openxmlformats.org/drawingml/2006/main">
              <a:ext uri="{FF2B5EF4-FFF2-40B4-BE49-F238E27FC236}">
                <a16:creationId xmlns:a16="http://schemas.microsoft.com/office/drawing/2014/main" id="{6D6416AC-2E17-4020-962C-8E62F62ADCD1}"/>
              </a:ext>
            </a:extLst>
          </p:cNvPr>
          <p:cNvSpPr>
            <a:spLocks xmlns:a="http://schemas.openxmlformats.org/drawingml/2006/main" noGrp="1"/>
          </p:cNvSpPr>
          <p:nvPr/>
        </p:nvSpPr>
        <p:spPr>
          <a:xfrm xmlns:a="http://schemas.openxmlformats.org/drawingml/2006/main">
            <a:off x="1524000" y="4953000"/>
            <a:ext cx="4333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A “revise” outcome returns specific feedback to Builder.</a:t>
            </a:r>
          </a:p>
        </p:txBody>
      </p:sp>
      <p:sp>
        <p:nvSpPr>
          <p:cNvPr id="11" name="text-9">
            <a:extLst xmlns:a="http://schemas.openxmlformats.org/drawingml/2006/main">
              <a:ext uri="{FF2B5EF4-FFF2-40B4-BE49-F238E27FC236}">
                <a16:creationId xmlns:a16="http://schemas.microsoft.com/office/drawing/2014/main" id="{3E5776FE-D336-41CA-A64E-6154F0384839}"/>
              </a:ext>
            </a:extLst>
          </p:cNvPr>
          <p:cNvSpPr>
            <a:spLocks xmlns:a="http://schemas.openxmlformats.org/drawingml/2006/main" noGrp="1"/>
          </p:cNvSpPr>
          <p:nvPr/>
        </p:nvSpPr>
        <p:spPr>
          <a:xfrm xmlns:a="http://schemas.openxmlformats.org/drawingml/2006/main">
            <a:off x="762000" y="63246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03</a:t>
            </a:r>
          </a:p>
        </p:txBody>
      </p:sp>
      <p:sp>
        <p:nvSpPr>
          <p:cNvPr id="12" name="text-10">
            <a:extLst xmlns:a="http://schemas.openxmlformats.org/drawingml/2006/main">
              <a:ext uri="{FF2B5EF4-FFF2-40B4-BE49-F238E27FC236}">
                <a16:creationId xmlns:a16="http://schemas.microsoft.com/office/drawing/2014/main" id="{F445B4FA-0CB0-4636-8FC1-A38C804ECD27}"/>
              </a:ext>
            </a:extLst>
          </p:cNvPr>
          <p:cNvSpPr>
            <a:spLocks xmlns:a="http://schemas.openxmlformats.org/drawingml/2006/main" noGrp="1"/>
          </p:cNvSpPr>
          <p:nvPr/>
        </p:nvSpPr>
        <p:spPr>
          <a:xfrm xmlns:a="http://schemas.openxmlformats.org/drawingml/2006/main">
            <a:off x="1524000" y="6324600"/>
            <a:ext cx="4333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Review reaches “approved”</a:t>
            </a:r>
          </a:p>
        </p:txBody>
      </p:sp>
      <p:sp>
        <p:nvSpPr>
          <p:cNvPr id="13" name="text-11">
            <a:extLst xmlns:a="http://schemas.openxmlformats.org/drawingml/2006/main">
              <a:ext uri="{FF2B5EF4-FFF2-40B4-BE49-F238E27FC236}">
                <a16:creationId xmlns:a16="http://schemas.microsoft.com/office/drawing/2014/main" id="{91624C17-C5CD-471C-B8FC-09BE3ACFEDCB}"/>
              </a:ext>
            </a:extLst>
          </p:cNvPr>
          <p:cNvSpPr>
            <a:spLocks xmlns:a="http://schemas.openxmlformats.org/drawingml/2006/main" noGrp="1"/>
          </p:cNvSpPr>
          <p:nvPr/>
        </p:nvSpPr>
        <p:spPr>
          <a:xfrm xmlns:a="http://schemas.openxmlformats.org/drawingml/2006/main">
            <a:off x="1524000" y="6877050"/>
            <a:ext cx="4333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The graph ends. The default policy then asks for your approval.</a:t>
            </a:r>
          </a:p>
        </p:txBody>
      </p:sp>
    </p:spTree>
    <p:extLst>
      <p:ext uri="{BB962C8B-B14F-4D97-AF65-F5344CB8AC3E}">
        <p14:creationId xmlns:p14="http://schemas.microsoft.com/office/powerpoint/2010/main" val="1041557411"/>
      </p:ext>
    </p:extLst>
  </p:cSld>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2F37C994-4070-4FAA-B5C2-193809C7D4E7}"/>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Run history explains what happened</a:t>
            </a:r>
          </a:p>
        </p:txBody>
      </p:sp>
      <p:sp>
        <p:nvSpPr>
          <p:cNvPr id="2" name="text-1">
            <a:extLst xmlns:a="http://schemas.openxmlformats.org/drawingml/2006/main">
              <a:ext uri="{FF2B5EF4-FFF2-40B4-BE49-F238E27FC236}">
                <a16:creationId xmlns:a16="http://schemas.microsoft.com/office/drawing/2014/main" id="{E037BCFB-DAE0-4A19-AA01-552F3ADC95CB}"/>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Runs: select a request, then inspect its recorded work.</a:t>
            </a:r>
          </a:p>
        </p:txBody>
      </p:sp>
      <p:sp>
        <p:nvSpPr>
          <p:cNvPr id="3" name="text-2">
            <a:extLst xmlns:a="http://schemas.openxmlformats.org/drawingml/2006/main">
              <a:ext uri="{FF2B5EF4-FFF2-40B4-BE49-F238E27FC236}">
                <a16:creationId xmlns:a16="http://schemas.microsoft.com/office/drawing/2014/main" id="{FE209DBF-A09F-47F7-91EF-65E7C5590B6D}"/>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e7c9adb125d4161"/>
          <a:stretch xmlns:a="http://schemas.openxmlformats.org/drawingml/2006/main"/>
        </p:blipFill>
        <p:spPr>
          <a:xfrm xmlns:a="http://schemas.openxmlformats.org/drawingml/2006/main">
            <a:off x="762000" y="2401217"/>
            <a:ext cx="13716000" cy="1026866"/>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9588ED77-C1E7-4BBD-932A-C57494D2D966}"/>
              </a:ext>
            </a:extLst>
          </p:cNvPr>
          <p:cNvSpPr>
            <a:spLocks xmlns:a="http://schemas.openxmlformats.org/drawingml/2006/main" noGrp="1"/>
          </p:cNvSpPr>
          <p:nvPr/>
        </p:nvSpPr>
        <p:spPr>
          <a:xfrm xmlns:a="http://schemas.openxmlformats.org/drawingml/2006/main">
            <a:off x="762000" y="4105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01</a:t>
            </a:r>
          </a:p>
        </p:txBody>
      </p:sp>
      <p:sp>
        <p:nvSpPr>
          <p:cNvPr id="6" name="text-4">
            <a:extLst xmlns:a="http://schemas.openxmlformats.org/drawingml/2006/main">
              <a:ext uri="{FF2B5EF4-FFF2-40B4-BE49-F238E27FC236}">
                <a16:creationId xmlns:a16="http://schemas.microsoft.com/office/drawing/2014/main" id="{EDB4CA15-ACC5-4F64-9B06-0276FC78F9D0}"/>
              </a:ext>
            </a:extLst>
          </p:cNvPr>
          <p:cNvSpPr>
            <a:spLocks xmlns:a="http://schemas.openxmlformats.org/drawingml/2006/main" noGrp="1"/>
          </p:cNvSpPr>
          <p:nvPr/>
        </p:nvSpPr>
        <p:spPr>
          <a:xfrm xmlns:a="http://schemas.openxmlformats.org/drawingml/2006/main">
            <a:off x="1524000" y="4105275"/>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Live trail</a:t>
            </a:r>
          </a:p>
        </p:txBody>
      </p:sp>
      <p:sp>
        <p:nvSpPr>
          <p:cNvPr id="7" name="text-5">
            <a:extLst xmlns:a="http://schemas.openxmlformats.org/drawingml/2006/main">
              <a:ext uri="{FF2B5EF4-FFF2-40B4-BE49-F238E27FC236}">
                <a16:creationId xmlns:a16="http://schemas.microsoft.com/office/drawing/2014/main" id="{0C344E9E-C944-4330-8518-4C4156142A8D}"/>
              </a:ext>
            </a:extLst>
          </p:cNvPr>
          <p:cNvSpPr>
            <a:spLocks xmlns:a="http://schemas.openxmlformats.org/drawingml/2006/main" noGrp="1"/>
          </p:cNvSpPr>
          <p:nvPr/>
        </p:nvSpPr>
        <p:spPr>
          <a:xfrm xmlns:a="http://schemas.openxmlformats.org/drawingml/2006/main">
            <a:off x="1524000" y="4657725"/>
            <a:ext cx="5524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Read addressed messages and tool calls. Expand Tool output when useful.</a:t>
            </a:r>
          </a:p>
        </p:txBody>
      </p:sp>
      <p:sp>
        <p:nvSpPr>
          <p:cNvPr id="8" name="text-6">
            <a:extLst xmlns:a="http://schemas.openxmlformats.org/drawingml/2006/main">
              <a:ext uri="{FF2B5EF4-FFF2-40B4-BE49-F238E27FC236}">
                <a16:creationId xmlns:a16="http://schemas.microsoft.com/office/drawing/2014/main" id="{C39912D0-51F4-48CB-AC1C-557DEB7C95E3}"/>
              </a:ext>
            </a:extLst>
          </p:cNvPr>
          <p:cNvSpPr>
            <a:spLocks xmlns:a="http://schemas.openxmlformats.org/drawingml/2006/main" noGrp="1"/>
          </p:cNvSpPr>
          <p:nvPr/>
        </p:nvSpPr>
        <p:spPr>
          <a:xfrm xmlns:a="http://schemas.openxmlformats.org/drawingml/2006/main">
            <a:off x="8048625" y="41052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02</a:t>
            </a:r>
          </a:p>
        </p:txBody>
      </p:sp>
      <p:sp>
        <p:nvSpPr>
          <p:cNvPr id="9" name="text-7">
            <a:extLst xmlns:a="http://schemas.openxmlformats.org/drawingml/2006/main">
              <a:ext uri="{FF2B5EF4-FFF2-40B4-BE49-F238E27FC236}">
                <a16:creationId xmlns:a16="http://schemas.microsoft.com/office/drawing/2014/main" id="{8DECF053-D76D-4B4D-A9BA-F6D3922BB9EF}"/>
              </a:ext>
            </a:extLst>
          </p:cNvPr>
          <p:cNvSpPr>
            <a:spLocks xmlns:a="http://schemas.openxmlformats.org/drawingml/2006/main" noGrp="1"/>
          </p:cNvSpPr>
          <p:nvPr/>
        </p:nvSpPr>
        <p:spPr>
          <a:xfrm xmlns:a="http://schemas.openxmlformats.org/drawingml/2006/main">
            <a:off x="8810625" y="4105275"/>
            <a:ext cx="566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Saved execution setup</a:t>
            </a:r>
          </a:p>
        </p:txBody>
      </p:sp>
      <p:sp>
        <p:nvSpPr>
          <p:cNvPr id="10" name="text-8">
            <a:extLst xmlns:a="http://schemas.openxmlformats.org/drawingml/2006/main">
              <a:ext uri="{FF2B5EF4-FFF2-40B4-BE49-F238E27FC236}">
                <a16:creationId xmlns:a16="http://schemas.microsoft.com/office/drawing/2014/main" id="{C4DBF05C-5CDC-4EB9-A433-F3D1E7287846}"/>
              </a:ext>
            </a:extLst>
          </p:cNvPr>
          <p:cNvSpPr>
            <a:spLocks xmlns:a="http://schemas.openxmlformats.org/drawingml/2006/main" noGrp="1"/>
          </p:cNvSpPr>
          <p:nvPr/>
        </p:nvSpPr>
        <p:spPr>
          <a:xfrm xmlns:a="http://schemas.openxmlformats.org/drawingml/2006/main">
            <a:off x="8810625" y="4657725"/>
            <a:ext cx="5667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Check the exact agents, models, tools, and graph captured for this run.</a:t>
            </a:r>
          </a:p>
        </p:txBody>
      </p:sp>
      <p:sp>
        <p:nvSpPr>
          <p:cNvPr id="11" name="text-9">
            <a:extLst xmlns:a="http://schemas.openxmlformats.org/drawingml/2006/main">
              <a:ext uri="{FF2B5EF4-FFF2-40B4-BE49-F238E27FC236}">
                <a16:creationId xmlns:a16="http://schemas.microsoft.com/office/drawing/2014/main" id="{E87F36FE-6096-4866-913A-901D8170F810}"/>
              </a:ext>
            </a:extLst>
          </p:cNvPr>
          <p:cNvSpPr>
            <a:spLocks xmlns:a="http://schemas.openxmlformats.org/drawingml/2006/main" noGrp="1"/>
          </p:cNvSpPr>
          <p:nvPr/>
        </p:nvSpPr>
        <p:spPr>
          <a:xfrm xmlns:a="http://schemas.openxmlformats.org/drawingml/2006/main">
            <a:off x="790575" y="6477000"/>
            <a:ext cx="1323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Current node shows where the run is working or where it stopped.</a:t>
            </a:r>
          </a:p>
        </p:txBody>
      </p:sp>
      <p:sp>
        <p:nvSpPr>
          <p:cNvPr id="12" name="text-10">
            <a:extLst xmlns:a="http://schemas.openxmlformats.org/drawingml/2006/main">
              <a:ext uri="{FF2B5EF4-FFF2-40B4-BE49-F238E27FC236}">
                <a16:creationId xmlns:a16="http://schemas.microsoft.com/office/drawing/2014/main" id="{1B426E50-A424-4B02-8C34-6DE20905FF93}"/>
              </a:ext>
            </a:extLst>
          </p:cNvPr>
          <p:cNvSpPr>
            <a:spLocks xmlns:a="http://schemas.openxmlformats.org/drawingml/2006/main" noGrp="1"/>
          </p:cNvSpPr>
          <p:nvPr/>
        </p:nvSpPr>
        <p:spPr>
          <a:xfrm xmlns:a="http://schemas.openxmlformats.org/drawingml/2006/main">
            <a:off x="790575" y="7191375"/>
            <a:ext cx="1333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C60"/>
                </a:solidFill>
                <a:latin typeface="Helvetica Neue"/>
                <a:ea typeface="Helvetica Neue"/>
                <a:cs typeface="Helvetica Neue"/>
              </a:defRPr>
            </a:pPr>
            <a:r>
              <a:rPr sz="2100" b="0">
                <a:solidFill>
                  <a:srgbClr val="586C60"/>
                </a:solidFill>
                <a:latin typeface="Helvetica Neue"/>
                <a:ea typeface="Helvetica Neue"/>
                <a:cs typeface="Helvetica Neue"/>
              </a:rPr>
              <a:t>Later edits to agents or workflows apply to new runs. Existing runs keep their saved setup.</a:t>
            </a:r>
          </a:p>
        </p:txBody>
      </p:sp>
    </p:spTree>
    <p:extLst>
      <p:ext uri="{BB962C8B-B14F-4D97-AF65-F5344CB8AC3E}">
        <p14:creationId xmlns:p14="http://schemas.microsoft.com/office/powerpoint/2010/main" val="1148395769"/>
      </p:ext>
    </p:extLst>
  </p:cSld>
</p:sld>
</file>

<file path=ppt/slides/slide7.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6D987FD-2DC0-4EAF-B81A-F87DB9960CD8}"/>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Source inspection and a browser check</a:t>
            </a:r>
          </a:p>
        </p:txBody>
      </p:sp>
      <p:sp>
        <p:nvSpPr>
          <p:cNvPr id="2" name="text-1">
            <a:extLst xmlns:a="http://schemas.openxmlformats.org/drawingml/2006/main">
              <a:ext uri="{FF2B5EF4-FFF2-40B4-BE49-F238E27FC236}">
                <a16:creationId xmlns:a16="http://schemas.microsoft.com/office/drawing/2014/main" id="{FDB7FC45-38F3-4C2E-BA48-6B7588702842}"/>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The run’s “Source” and “Preview” buttons give you two ways to inspect the result.</a:t>
            </a:r>
          </a:p>
        </p:txBody>
      </p:sp>
      <p:sp>
        <p:nvSpPr>
          <p:cNvPr id="3" name="text-2">
            <a:extLst xmlns:a="http://schemas.openxmlformats.org/drawingml/2006/main">
              <a:ext uri="{FF2B5EF4-FFF2-40B4-BE49-F238E27FC236}">
                <a16:creationId xmlns:a16="http://schemas.microsoft.com/office/drawing/2014/main" id="{BCEF4154-217E-4AE3-A806-8EE1EA683F39}"/>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07</a:t>
            </a:r>
          </a:p>
        </p:txBody>
      </p:sp>
      <p:sp>
        <p:nvSpPr>
          <p:cNvPr id="4" name="text-3">
            <a:extLst xmlns:a="http://schemas.openxmlformats.org/drawingml/2006/main">
              <a:ext uri="{FF2B5EF4-FFF2-40B4-BE49-F238E27FC236}">
                <a16:creationId xmlns:a16="http://schemas.microsoft.com/office/drawing/2014/main" id="{62DF1C1B-6162-4941-AB50-79BCA5010EF1}"/>
              </a:ext>
            </a:extLst>
          </p:cNvPr>
          <p:cNvSpPr>
            <a:spLocks xmlns:a="http://schemas.openxmlformats.org/drawingml/2006/main" noGrp="1"/>
          </p:cNvSpPr>
          <p:nvPr/>
        </p:nvSpPr>
        <p:spPr>
          <a:xfrm xmlns:a="http://schemas.openxmlformats.org/drawingml/2006/main">
            <a:off x="762000" y="247650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A55"/>
                </a:solidFill>
                <a:latin typeface="Helvetica Neue"/>
                <a:ea typeface="Helvetica Neue"/>
                <a:cs typeface="Helvetica Neue"/>
              </a:defRPr>
            </a:pPr>
            <a:r>
              <a:rPr sz="2700" b="1">
                <a:solidFill>
                  <a:srgbClr val="147A55"/>
                </a:solidFill>
                <a:latin typeface="Helvetica Neue"/>
                <a:ea typeface="Helvetica Neue"/>
                <a:cs typeface="Helvetica Neue"/>
              </a:rPr>
              <a:t>Source</a:t>
            </a:r>
          </a:p>
        </p:txBody>
      </p:sp>
      <p:sp>
        <p:nvSpPr>
          <p:cNvPr id="5" name="text-4">
            <a:extLst xmlns:a="http://schemas.openxmlformats.org/drawingml/2006/main">
              <a:ext uri="{FF2B5EF4-FFF2-40B4-BE49-F238E27FC236}">
                <a16:creationId xmlns:a16="http://schemas.microsoft.com/office/drawing/2014/main" id="{F6D1FB2B-FAC9-4F7F-80DF-B119F0D3A5B2}"/>
              </a:ext>
            </a:extLst>
          </p:cNvPr>
          <p:cNvSpPr>
            <a:spLocks xmlns:a="http://schemas.openxmlformats.org/drawingml/2006/main" noGrp="1"/>
          </p:cNvSpPr>
          <p:nvPr/>
        </p:nvSpPr>
        <p:spPr>
          <a:xfrm xmlns:a="http://schemas.openxmlformats.org/drawingml/2006/main">
            <a:off x="762000" y="3048000"/>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Read the retained files for this revision.</a:t>
            </a:r>
          </a:p>
        </p:txBody>
      </p:sp>
      <p:sp>
        <p:nvSpPr>
          <p:cNvPr id="6" name="text-5">
            <a:extLst xmlns:a="http://schemas.openxmlformats.org/drawingml/2006/main">
              <a:ext uri="{FF2B5EF4-FFF2-40B4-BE49-F238E27FC236}">
                <a16:creationId xmlns:a16="http://schemas.microsoft.com/office/drawing/2014/main" id="{4A035842-20D3-4C67-B91E-63C8E1E78CFE}"/>
              </a:ext>
            </a:extLst>
          </p:cNvPr>
          <p:cNvSpPr>
            <a:spLocks xmlns:a="http://schemas.openxmlformats.org/drawingml/2006/main" noGrp="1"/>
          </p:cNvSpPr>
          <p:nvPr/>
        </p:nvSpPr>
        <p:spPr>
          <a:xfrm xmlns:a="http://schemas.openxmlformats.org/drawingml/2006/main">
            <a:off x="762000" y="42862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A55"/>
                </a:solidFill>
                <a:latin typeface="Helvetica Neue"/>
                <a:ea typeface="Helvetica Neue"/>
                <a:cs typeface="Helvetica Neue"/>
              </a:defRPr>
            </a:pPr>
            <a:r>
              <a:rPr sz="2700" b="1">
                <a:solidFill>
                  <a:srgbClr val="147A55"/>
                </a:solidFill>
                <a:latin typeface="Helvetica Neue"/>
                <a:ea typeface="Helvetica Neue"/>
                <a:cs typeface="Helvetica Neue"/>
              </a:rPr>
              <a:t>Preview</a:t>
            </a:r>
          </a:p>
        </p:txBody>
      </p:sp>
      <p:sp>
        <p:nvSpPr>
          <p:cNvPr id="7" name="text-6">
            <a:extLst xmlns:a="http://schemas.openxmlformats.org/drawingml/2006/main">
              <a:ext uri="{FF2B5EF4-FFF2-40B4-BE49-F238E27FC236}">
                <a16:creationId xmlns:a16="http://schemas.microsoft.com/office/drawing/2014/main" id="{A90C3EF2-5EA3-40CF-987F-02969BE6BB30}"/>
              </a:ext>
            </a:extLst>
          </p:cNvPr>
          <p:cNvSpPr>
            <a:spLocks xmlns:a="http://schemas.openxmlformats.org/drawingml/2006/main" noGrp="1"/>
          </p:cNvSpPr>
          <p:nvPr/>
        </p:nvSpPr>
        <p:spPr>
          <a:xfrm xmlns:a="http://schemas.openxmlformats.org/drawingml/2006/main">
            <a:off x="762000" y="4876800"/>
            <a:ext cx="5524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Add two tasks. Complete one. Reload. Check that both tasks and their states remain.</a:t>
            </a:r>
          </a:p>
        </p:txBody>
      </p:sp>
      <p:sp>
        <p:nvSpPr>
          <p:cNvPr id="8" name="text-7">
            <a:extLst xmlns:a="http://schemas.openxmlformats.org/drawingml/2006/main">
              <a:ext uri="{FF2B5EF4-FFF2-40B4-BE49-F238E27FC236}">
                <a16:creationId xmlns:a16="http://schemas.microsoft.com/office/drawing/2014/main" id="{AB13DF16-69CA-494A-A909-AFC0D6CEB537}"/>
              </a:ext>
            </a:extLst>
          </p:cNvPr>
          <p:cNvSpPr>
            <a:spLocks xmlns:a="http://schemas.openxmlformats.org/drawingml/2006/main" noGrp="1"/>
          </p:cNvSpPr>
          <p:nvPr/>
        </p:nvSpPr>
        <p:spPr>
          <a:xfrm xmlns:a="http://schemas.openxmlformats.org/drawingml/2006/main">
            <a:off x="762000" y="6819900"/>
            <a:ext cx="5524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C60"/>
                </a:solidFill>
                <a:latin typeface="Helvetica Neue"/>
                <a:ea typeface="Helvetica Neue"/>
                <a:cs typeface="Helvetica Neue"/>
              </a:defRPr>
            </a:pPr>
            <a:r>
              <a:rPr sz="1950" b="0">
                <a:solidFill>
                  <a:srgbClr val="586C60"/>
                </a:solidFill>
                <a:latin typeface="Helvetica Neue"/>
                <a:ea typeface="Helvetica Neue"/>
                <a:cs typeface="Helvetica Neue"/>
              </a:rPr>
              <a:t>Use the same browser profile for later revisions. Another profile has separate saved data.</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37f5935e96140b5"/>
          <a:stretch xmlns:a="http://schemas.openxmlformats.org/drawingml/2006/main"/>
        </p:blipFill>
        <p:spPr>
          <a:xfrm xmlns:a="http://schemas.openxmlformats.org/drawingml/2006/main">
            <a:off x="7396470" y="2266950"/>
            <a:ext cx="6590685" cy="5238750"/>
          </a:xfrm>
          <a:prstGeom xmlns:a="http://schemas.openxmlformats.org/drawingml/2006/main" prst="rect">
            <a:avLst/>
          </a:prstGeom>
        </p:spPr>
      </p:pic>
    </p:spTree>
    <p:extLst>
      <p:ext uri="{BB962C8B-B14F-4D97-AF65-F5344CB8AC3E}">
        <p14:creationId xmlns:p14="http://schemas.microsoft.com/office/powerpoint/2010/main" val="1027708045"/>
      </p:ext>
    </p:extLst>
  </p:cSld>
</p:sld>
</file>

<file path=ppt/slides/slide8.xml><?xml version="1.0" encoding="utf-8"?>
<p:sld xmlns:p="http://schemas.openxmlformats.org/presentationml/2006/main">
  <p:cSld>
    <p:bg>
      <p:bgPr>
        <a:solidFill xmlns:a="http://schemas.openxmlformats.org/drawingml/2006/main">
          <a:srgbClr val="0C1714"/>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F308E23-1AA3-470A-BC27-4A2EE2B31A6C}"/>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Your approval decision</a:t>
            </a:r>
          </a:p>
        </p:txBody>
      </p:sp>
      <p:sp>
        <p:nvSpPr>
          <p:cNvPr id="2" name="text-1">
            <a:extLst xmlns:a="http://schemas.openxmlformats.org/drawingml/2006/main">
              <a:ext uri="{FF2B5EF4-FFF2-40B4-BE49-F238E27FC236}">
                <a16:creationId xmlns:a16="http://schemas.microsoft.com/office/drawing/2014/main" id="{E17A6377-EEE1-4691-926D-BFBCEE04E0C6}"/>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2D6A8"/>
                </a:solidFill>
                <a:latin typeface="Helvetica Neue"/>
                <a:ea typeface="Helvetica Neue"/>
                <a:cs typeface="Helvetica Neue"/>
              </a:defRPr>
            </a:pPr>
            <a:r>
              <a:rPr sz="2175" b="0">
                <a:solidFill>
                  <a:srgbClr val="72D6A8"/>
                </a:solidFill>
                <a:latin typeface="Helvetica Neue"/>
                <a:ea typeface="Helvetica Neue"/>
                <a:cs typeface="Helvetica Neue"/>
              </a:rPr>
              <a:t>With the default approval policy, the run pauses at “Review this revision”.</a:t>
            </a:r>
          </a:p>
        </p:txBody>
      </p:sp>
      <p:sp>
        <p:nvSpPr>
          <p:cNvPr id="3" name="text-2">
            <a:extLst xmlns:a="http://schemas.openxmlformats.org/drawingml/2006/main">
              <a:ext uri="{FF2B5EF4-FFF2-40B4-BE49-F238E27FC236}">
                <a16:creationId xmlns:a16="http://schemas.microsoft.com/office/drawing/2014/main" id="{2C02F6F3-DBFF-4BC7-AB65-E6558E7ABCD9}"/>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2D6A8"/>
                </a:solidFill>
                <a:latin typeface="Helvetica Neue"/>
                <a:ea typeface="Helvetica Neue"/>
                <a:cs typeface="Helvetica Neue"/>
              </a:defRPr>
            </a:pPr>
            <a:r>
              <a:rPr sz="1350" b="0">
                <a:solidFill>
                  <a:srgbClr val="72D6A8"/>
                </a:solidFill>
                <a:latin typeface="Helvetica Neue"/>
                <a:ea typeface="Helvetica Neue"/>
                <a:cs typeface="Helvetica Neue"/>
              </a:rPr>
              <a:t>08</a:t>
            </a:r>
          </a:p>
        </p:txBody>
      </p:sp>
      <p:sp>
        <p:nvSpPr>
          <p:cNvPr id="4" name="text-3">
            <a:extLst xmlns:a="http://schemas.openxmlformats.org/drawingml/2006/main">
              <a:ext uri="{FF2B5EF4-FFF2-40B4-BE49-F238E27FC236}">
                <a16:creationId xmlns:a16="http://schemas.microsoft.com/office/drawing/2014/main" id="{03A4F979-2A2C-49EE-9969-3D2AF52614AD}"/>
              </a:ext>
            </a:extLst>
          </p:cNvPr>
          <p:cNvSpPr>
            <a:spLocks xmlns:a="http://schemas.openxmlformats.org/drawingml/2006/main" noGrp="1"/>
          </p:cNvSpPr>
          <p:nvPr/>
        </p:nvSpPr>
        <p:spPr>
          <a:xfrm xmlns:a="http://schemas.openxmlformats.org/drawingml/2006/main">
            <a:off x="781050" y="25241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72D6A8"/>
                </a:solidFill>
                <a:latin typeface="Helvetica Neue"/>
                <a:ea typeface="Helvetica Neue"/>
                <a:cs typeface="Helvetica Neue"/>
              </a:defRPr>
            </a:pPr>
            <a:r>
              <a:rPr sz="3300" b="1">
                <a:solidFill>
                  <a:srgbClr val="72D6A8"/>
                </a:solidFill>
                <a:latin typeface="Helvetica Neue"/>
                <a:ea typeface="Helvetica Neue"/>
                <a:cs typeface="Helvetica Neue"/>
              </a:rPr>
              <a:t>Approve revision</a:t>
            </a:r>
          </a:p>
        </p:txBody>
      </p:sp>
      <p:sp>
        <p:nvSpPr>
          <p:cNvPr id="5" name="text-4">
            <a:extLst xmlns:a="http://schemas.openxmlformats.org/drawingml/2006/main">
              <a:ext uri="{FF2B5EF4-FFF2-40B4-BE49-F238E27FC236}">
                <a16:creationId xmlns:a16="http://schemas.microsoft.com/office/drawing/2014/main" id="{4367557A-5F8B-472B-837D-01B85D6A0F8D}"/>
              </a:ext>
            </a:extLst>
          </p:cNvPr>
          <p:cNvSpPr>
            <a:spLocks xmlns:a="http://schemas.openxmlformats.org/drawingml/2006/main" noGrp="1"/>
          </p:cNvSpPr>
          <p:nvPr/>
        </p:nvSpPr>
        <p:spPr>
          <a:xfrm xmlns:a="http://schemas.openxmlformats.org/drawingml/2006/main">
            <a:off x="781050" y="3476625"/>
            <a:ext cx="6143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Use this after the preview behaves as requested. The completed revision becomes a source for improvements.</a:t>
            </a:r>
          </a:p>
        </p:txBody>
      </p:sp>
      <p:sp>
        <p:nvSpPr>
          <p:cNvPr id="6" name="text-5">
            <a:extLst xmlns:a="http://schemas.openxmlformats.org/drawingml/2006/main">
              <a:ext uri="{FF2B5EF4-FFF2-40B4-BE49-F238E27FC236}">
                <a16:creationId xmlns:a16="http://schemas.microsoft.com/office/drawing/2014/main" id="{43310FC2-7723-4AE1-8363-E8BA6E48E72D}"/>
              </a:ext>
            </a:extLst>
          </p:cNvPr>
          <p:cNvSpPr>
            <a:spLocks xmlns:a="http://schemas.openxmlformats.org/drawingml/2006/main" noGrp="1"/>
          </p:cNvSpPr>
          <p:nvPr/>
        </p:nvSpPr>
        <p:spPr>
          <a:xfrm xmlns:a="http://schemas.openxmlformats.org/drawingml/2006/main">
            <a:off x="8210550" y="25241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72D6A8"/>
                </a:solidFill>
                <a:latin typeface="Helvetica Neue"/>
                <a:ea typeface="Helvetica Neue"/>
                <a:cs typeface="Helvetica Neue"/>
              </a:defRPr>
            </a:pPr>
            <a:r>
              <a:rPr sz="3300" b="1">
                <a:solidFill>
                  <a:srgbClr val="72D6A8"/>
                </a:solidFill>
                <a:latin typeface="Helvetica Neue"/>
                <a:ea typeface="Helvetica Neue"/>
                <a:cs typeface="Helvetica Neue"/>
              </a:rPr>
              <a:t>Reject with feedback</a:t>
            </a:r>
          </a:p>
        </p:txBody>
      </p:sp>
      <p:sp>
        <p:nvSpPr>
          <p:cNvPr id="7" name="text-6">
            <a:extLst xmlns:a="http://schemas.openxmlformats.org/drawingml/2006/main">
              <a:ext uri="{FF2B5EF4-FFF2-40B4-BE49-F238E27FC236}">
                <a16:creationId xmlns:a16="http://schemas.microsoft.com/office/drawing/2014/main" id="{AC810A49-CB09-4FD8-B0AC-4CDBC19BB112}"/>
              </a:ext>
            </a:extLst>
          </p:cNvPr>
          <p:cNvSpPr>
            <a:spLocks xmlns:a="http://schemas.openxmlformats.org/drawingml/2006/main" noGrp="1"/>
          </p:cNvSpPr>
          <p:nvPr/>
        </p:nvSpPr>
        <p:spPr>
          <a:xfrm xmlns:a="http://schemas.openxmlformats.org/drawingml/2006/main">
            <a:off x="8210550" y="3476625"/>
            <a:ext cx="6096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Helvetica Neue"/>
                <a:ea typeface="Helvetica Neue"/>
                <a:cs typeface="Helvetica Neue"/>
              </a:defRPr>
            </a:pPr>
            <a:r>
              <a:rPr sz="2625" b="0">
                <a:solidFill>
                  <a:srgbClr val="FFFFFF"/>
                </a:solidFill>
                <a:latin typeface="Helvetica Neue"/>
                <a:ea typeface="Helvetica Neue"/>
                <a:cs typeface="Helvetica Neue"/>
              </a:rPr>
              <a:t>Describe one concrete failure. OrbitFlow returns your feedback to the workflow with the retained files.</a:t>
            </a:r>
          </a:p>
        </p:txBody>
      </p:sp>
      <p:sp>
        <p:nvSpPr>
          <p:cNvPr id="8" name="text-7">
            <a:extLst xmlns:a="http://schemas.openxmlformats.org/drawingml/2006/main">
              <a:ext uri="{FF2B5EF4-FFF2-40B4-BE49-F238E27FC236}">
                <a16:creationId xmlns:a16="http://schemas.microsoft.com/office/drawing/2014/main" id="{32A6CD95-85C2-4384-864B-C79B98D57FE1}"/>
              </a:ext>
            </a:extLst>
          </p:cNvPr>
          <p:cNvSpPr>
            <a:spLocks xmlns:a="http://schemas.openxmlformats.org/drawingml/2006/main" noGrp="1"/>
          </p:cNvSpPr>
          <p:nvPr/>
        </p:nvSpPr>
        <p:spPr>
          <a:xfrm xmlns:a="http://schemas.openxmlformats.org/drawingml/2006/main">
            <a:off x="781050" y="5934075"/>
            <a:ext cx="1323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72D6A8"/>
                </a:solidFill>
                <a:latin typeface="Helvetica Neue"/>
                <a:ea typeface="Helvetica Neue"/>
                <a:cs typeface="Helvetica Neue"/>
              </a:defRPr>
            </a:pPr>
            <a:r>
              <a:rPr sz="2025" b="1">
                <a:solidFill>
                  <a:srgbClr val="72D6A8"/>
                </a:solidFill>
                <a:latin typeface="Helvetica Neue"/>
                <a:ea typeface="Helvetica Neue"/>
                <a:cs typeface="Helvetica Neue"/>
              </a:rPr>
              <a:t>Example feedback</a:t>
            </a:r>
          </a:p>
        </p:txBody>
      </p:sp>
      <p:sp>
        <p:nvSpPr>
          <p:cNvPr id="9" name="text-8">
            <a:extLst xmlns:a="http://schemas.openxmlformats.org/drawingml/2006/main">
              <a:ext uri="{FF2B5EF4-FFF2-40B4-BE49-F238E27FC236}">
                <a16:creationId xmlns:a16="http://schemas.microsoft.com/office/drawing/2014/main" id="{0134A169-5CAA-4514-B2E2-42A69E723F0F}"/>
              </a:ext>
            </a:extLst>
          </p:cNvPr>
          <p:cNvSpPr>
            <a:spLocks xmlns:a="http://schemas.openxmlformats.org/drawingml/2006/main" noGrp="1"/>
          </p:cNvSpPr>
          <p:nvPr/>
        </p:nvSpPr>
        <p:spPr>
          <a:xfrm xmlns:a="http://schemas.openxmlformats.org/drawingml/2006/main">
            <a:off x="781050" y="6467475"/>
            <a:ext cx="13239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Completed tasks lose their checked state after reload. Preserve their completion state.</a:t>
            </a:r>
          </a:p>
        </p:txBody>
      </p:sp>
      <p:sp>
        <p:nvSpPr>
          <p:cNvPr id="10" name="text-9">
            <a:extLst xmlns:a="http://schemas.openxmlformats.org/drawingml/2006/main">
              <a:ext uri="{FF2B5EF4-FFF2-40B4-BE49-F238E27FC236}">
                <a16:creationId xmlns:a16="http://schemas.microsoft.com/office/drawing/2014/main" id="{714315A2-A2CB-43DB-BCFC-5644F83CDA83}"/>
              </a:ext>
            </a:extLst>
          </p:cNvPr>
          <p:cNvSpPr>
            <a:spLocks xmlns:a="http://schemas.openxmlformats.org/drawingml/2006/main" noGrp="1"/>
          </p:cNvSpPr>
          <p:nvPr/>
        </p:nvSpPr>
        <p:spPr>
          <a:xfrm xmlns:a="http://schemas.openxmlformats.org/drawingml/2006/main">
            <a:off x="781050" y="7677150"/>
            <a:ext cx="13239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3AB9D"/>
                </a:solidFill>
                <a:latin typeface="Helvetica Neue"/>
                <a:ea typeface="Helvetica Neue"/>
                <a:cs typeface="Helvetica Neue"/>
              </a:defRPr>
            </a:pPr>
            <a:r>
              <a:rPr sz="1875" b="0">
                <a:solidFill>
                  <a:srgbClr val="93AB9D"/>
                </a:solidFill>
                <a:latin typeface="Helvetica Neue"/>
                <a:ea typeface="Helvetica Neue"/>
                <a:cs typeface="Helvetica Neue"/>
              </a:rPr>
              <a:t>“Allow turn” is a separate permission to start the next agent turn.</a:t>
            </a:r>
          </a:p>
        </p:txBody>
      </p:sp>
    </p:spTree>
    <p:extLst>
      <p:ext uri="{BB962C8B-B14F-4D97-AF65-F5344CB8AC3E}">
        <p14:creationId xmlns:p14="http://schemas.microsoft.com/office/powerpoint/2010/main" val="1733269820"/>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0468551-8C6A-405A-9D5C-A73C1622382A}"/>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An improvement starts from an approved app</a:t>
            </a:r>
          </a:p>
        </p:txBody>
      </p:sp>
      <p:sp>
        <p:nvSpPr>
          <p:cNvPr id="2" name="text-1">
            <a:extLst xmlns:a="http://schemas.openxmlformats.org/drawingml/2006/main">
              <a:ext uri="{FF2B5EF4-FFF2-40B4-BE49-F238E27FC236}">
                <a16:creationId xmlns:a16="http://schemas.microsoft.com/office/drawing/2014/main" id="{29A46186-B2B7-4723-BAF9-0E18F0A472FC}"/>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Runs: select the completed run and click “Improve application”.</a:t>
            </a:r>
          </a:p>
        </p:txBody>
      </p:sp>
      <p:sp>
        <p:nvSpPr>
          <p:cNvPr id="3" name="text-2">
            <a:extLst xmlns:a="http://schemas.openxmlformats.org/drawingml/2006/main">
              <a:ext uri="{FF2B5EF4-FFF2-40B4-BE49-F238E27FC236}">
                <a16:creationId xmlns:a16="http://schemas.microsoft.com/office/drawing/2014/main" id="{44BDAFCA-0301-4995-AF2C-22C22E9720D8}"/>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09</a:t>
            </a:r>
          </a:p>
        </p:txBody>
      </p:sp>
      <p:sp>
        <p:nvSpPr>
          <p:cNvPr id="4" name="text-3">
            <a:extLst xmlns:a="http://schemas.openxmlformats.org/drawingml/2006/main">
              <a:ext uri="{FF2B5EF4-FFF2-40B4-BE49-F238E27FC236}">
                <a16:creationId xmlns:a16="http://schemas.microsoft.com/office/drawing/2014/main" id="{BFA4FA05-4825-43BC-9DD4-207D09B615D7}"/>
              </a:ext>
            </a:extLst>
          </p:cNvPr>
          <p:cNvSpPr>
            <a:spLocks xmlns:a="http://schemas.openxmlformats.org/drawingml/2006/main" noGrp="1"/>
          </p:cNvSpPr>
          <p:nvPr/>
        </p:nvSpPr>
        <p:spPr>
          <a:xfrm xmlns:a="http://schemas.openxmlformats.org/drawingml/2006/main">
            <a:off x="781050" y="2324100"/>
            <a:ext cx="134302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8241F"/>
                </a:solidFill>
                <a:latin typeface="Helvetica Neue"/>
                <a:ea typeface="Helvetica Neue"/>
                <a:cs typeface="Helvetica Neue"/>
              </a:defRPr>
            </a:pPr>
            <a:r>
              <a:rPr sz="3225" b="0">
                <a:solidFill>
                  <a:srgbClr val="18241F"/>
                </a:solidFill>
                <a:latin typeface="Helvetica Neue"/>
                <a:ea typeface="Helvetica Neue"/>
                <a:cs typeface="Helvetica Neue"/>
              </a:rPr>
              <a:t>Add a search box that filters tasks by text. Keep saved tasks and completion states.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5cf2dfd943a4357"/>
          <a:stretch xmlns:a="http://schemas.openxmlformats.org/drawingml/2006/main"/>
        </p:blipFill>
        <p:spPr>
          <a:xfrm xmlns:a="http://schemas.openxmlformats.org/drawingml/2006/main">
            <a:off x="1362840" y="3857625"/>
            <a:ext cx="12514319" cy="285750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E7094BED-175F-4D3C-81C8-A7754EBC1E05}"/>
              </a:ext>
            </a:extLst>
          </p:cNvPr>
          <p:cNvSpPr>
            <a:spLocks xmlns:a="http://schemas.openxmlformats.org/drawingml/2006/main" noGrp="1"/>
          </p:cNvSpPr>
          <p:nvPr/>
        </p:nvSpPr>
        <p:spPr>
          <a:xfrm xmlns:a="http://schemas.openxmlformats.org/drawingml/2006/main">
            <a:off x="781050" y="7096125"/>
            <a:ext cx="1343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C60"/>
                </a:solidFill>
                <a:latin typeface="Helvetica Neue"/>
                <a:ea typeface="Helvetica Neue"/>
                <a:cs typeface="Helvetica Neue"/>
              </a:defRPr>
            </a:pPr>
            <a:r>
              <a:rPr sz="2100" b="0">
                <a:solidFill>
                  <a:srgbClr val="586C60"/>
                </a:solidFill>
                <a:latin typeface="Helvetica Neue"/>
                <a:ea typeface="Helvetica Neue"/>
                <a:cs typeface="Helvetica Neue"/>
              </a:rPr>
              <a:t>Alternative: in Overview, choose “Improve an application” and select the approved source.</a:t>
            </a:r>
          </a:p>
        </p:txBody>
      </p:sp>
    </p:spTree>
    <p:extLst>
      <p:ext uri="{BB962C8B-B14F-4D97-AF65-F5344CB8AC3E}">
        <p14:creationId xmlns:p14="http://schemas.microsoft.com/office/powerpoint/2010/main" val="78055357"/>
      </p:ext>
    </p:extLst>
  </p:cSld>
</p:sld>
</file>

<file path=ppt/slides/slide10.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5D370E67-1A0A-4A5A-A113-1EE675C3E2B1}"/>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The same improvement through Telegram</a:t>
            </a:r>
          </a:p>
        </p:txBody>
      </p:sp>
      <p:sp>
        <p:nvSpPr>
          <p:cNvPr id="2" name="text-1">
            <a:extLst xmlns:a="http://schemas.openxmlformats.org/drawingml/2006/main">
              <a:ext uri="{FF2B5EF4-FFF2-40B4-BE49-F238E27FC236}">
                <a16:creationId xmlns:a16="http://schemas.microsoft.com/office/drawing/2014/main" id="{DB8FBF0F-EE07-44BD-A4B4-71B3B9504F76}"/>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Use your configured private chat with @adam_orbitflow_v2_0906_bot.</a:t>
            </a:r>
          </a:p>
        </p:txBody>
      </p:sp>
      <p:sp>
        <p:nvSpPr>
          <p:cNvPr id="3" name="text-2">
            <a:extLst xmlns:a="http://schemas.openxmlformats.org/drawingml/2006/main">
              <a:ext uri="{FF2B5EF4-FFF2-40B4-BE49-F238E27FC236}">
                <a16:creationId xmlns:a16="http://schemas.microsoft.com/office/drawing/2014/main" id="{EBB0041A-537F-46BB-B888-C6724C8AB2B1}"/>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10</a:t>
            </a:r>
          </a:p>
        </p:txBody>
      </p:sp>
      <p:sp>
        <p:nvSpPr>
          <p:cNvPr id="4" name="text-3">
            <a:extLst xmlns:a="http://schemas.openxmlformats.org/drawingml/2006/main">
              <a:ext uri="{FF2B5EF4-FFF2-40B4-BE49-F238E27FC236}">
                <a16:creationId xmlns:a16="http://schemas.microsoft.com/office/drawing/2014/main" id="{20133626-7E04-42C0-A107-1BD9259805FD}"/>
              </a:ext>
            </a:extLst>
          </p:cNvPr>
          <p:cNvSpPr>
            <a:spLocks xmlns:a="http://schemas.openxmlformats.org/drawingml/2006/main" noGrp="1"/>
          </p:cNvSpPr>
          <p:nvPr/>
        </p:nvSpPr>
        <p:spPr>
          <a:xfrm xmlns:a="http://schemas.openxmlformats.org/drawingml/2006/main">
            <a:off x="762000" y="24098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01</a:t>
            </a:r>
          </a:p>
        </p:txBody>
      </p:sp>
      <p:sp>
        <p:nvSpPr>
          <p:cNvPr id="5" name="text-4">
            <a:extLst xmlns:a="http://schemas.openxmlformats.org/drawingml/2006/main">
              <a:ext uri="{FF2B5EF4-FFF2-40B4-BE49-F238E27FC236}">
                <a16:creationId xmlns:a16="http://schemas.microsoft.com/office/drawing/2014/main" id="{502DA135-4AA5-4A9F-B494-5DE6F662DAB5}"/>
              </a:ext>
            </a:extLst>
          </p:cNvPr>
          <p:cNvSpPr>
            <a:spLocks xmlns:a="http://schemas.openxmlformats.org/drawingml/2006/main" noGrp="1"/>
          </p:cNvSpPr>
          <p:nvPr/>
        </p:nvSpPr>
        <p:spPr>
          <a:xfrm xmlns:a="http://schemas.openxmlformats.org/drawingml/2006/main">
            <a:off x="1524000" y="24098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Send the command</a:t>
            </a:r>
          </a:p>
        </p:txBody>
      </p:sp>
      <p:sp>
        <p:nvSpPr>
          <p:cNvPr id="6" name="text-5">
            <a:extLst xmlns:a="http://schemas.openxmlformats.org/drawingml/2006/main">
              <a:ext uri="{FF2B5EF4-FFF2-40B4-BE49-F238E27FC236}">
                <a16:creationId xmlns:a16="http://schemas.microsoft.com/office/drawing/2014/main" id="{D47E50A9-FC2F-4E1B-ABBD-9E4B5E172F30}"/>
              </a:ext>
            </a:extLst>
          </p:cNvPr>
          <p:cNvSpPr>
            <a:spLocks xmlns:a="http://schemas.openxmlformats.org/drawingml/2006/main" noGrp="1"/>
          </p:cNvSpPr>
          <p:nvPr/>
        </p:nvSpPr>
        <p:spPr>
          <a:xfrm xmlns:a="http://schemas.openxmlformats.org/drawingml/2006/main">
            <a:off x="1524000" y="2962275"/>
            <a:ext cx="5191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/improve</a:t>
            </a:r>
          </a:p>
        </p:txBody>
      </p:sp>
      <p:sp>
        <p:nvSpPr>
          <p:cNvPr id="7" name="text-6">
            <a:extLst xmlns:a="http://schemas.openxmlformats.org/drawingml/2006/main">
              <a:ext uri="{FF2B5EF4-FFF2-40B4-BE49-F238E27FC236}">
                <a16:creationId xmlns:a16="http://schemas.microsoft.com/office/drawing/2014/main" id="{F6A87650-B0E5-4B96-AEBA-D8A5516524E3}"/>
              </a:ext>
            </a:extLst>
          </p:cNvPr>
          <p:cNvSpPr>
            <a:spLocks xmlns:a="http://schemas.openxmlformats.org/drawingml/2006/main" noGrp="1"/>
          </p:cNvSpPr>
          <p:nvPr/>
        </p:nvSpPr>
        <p:spPr>
          <a:xfrm xmlns:a="http://schemas.openxmlformats.org/drawingml/2006/main">
            <a:off x="762000" y="41624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02</a:t>
            </a:r>
          </a:p>
        </p:txBody>
      </p:sp>
      <p:sp>
        <p:nvSpPr>
          <p:cNvPr id="8" name="text-7">
            <a:extLst xmlns:a="http://schemas.openxmlformats.org/drawingml/2006/main">
              <a:ext uri="{FF2B5EF4-FFF2-40B4-BE49-F238E27FC236}">
                <a16:creationId xmlns:a16="http://schemas.microsoft.com/office/drawing/2014/main" id="{EDF9C4A4-9796-4053-ABDF-C52C777F65BD}"/>
              </a:ext>
            </a:extLst>
          </p:cNvPr>
          <p:cNvSpPr>
            <a:spLocks xmlns:a="http://schemas.openxmlformats.org/drawingml/2006/main" noGrp="1"/>
          </p:cNvSpPr>
          <p:nvPr/>
        </p:nvSpPr>
        <p:spPr>
          <a:xfrm xmlns:a="http://schemas.openxmlformats.org/drawingml/2006/main">
            <a:off x="1524000" y="4162425"/>
            <a:ext cx="5191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Reply with the change</a:t>
            </a:r>
          </a:p>
        </p:txBody>
      </p:sp>
      <p:sp>
        <p:nvSpPr>
          <p:cNvPr id="9" name="text-8">
            <a:extLst xmlns:a="http://schemas.openxmlformats.org/drawingml/2006/main">
              <a:ext uri="{FF2B5EF4-FFF2-40B4-BE49-F238E27FC236}">
                <a16:creationId xmlns:a16="http://schemas.microsoft.com/office/drawing/2014/main" id="{E27C5A39-3A9E-4FCD-AF65-817A61A02A0F}"/>
              </a:ext>
            </a:extLst>
          </p:cNvPr>
          <p:cNvSpPr>
            <a:spLocks xmlns:a="http://schemas.openxmlformats.org/drawingml/2006/main" noGrp="1"/>
          </p:cNvSpPr>
          <p:nvPr/>
        </p:nvSpPr>
        <p:spPr>
          <a:xfrm xmlns:a="http://schemas.openxmlformats.org/drawingml/2006/main">
            <a:off x="1524000" y="4714875"/>
            <a:ext cx="5191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Add a search box that filters tasks by text. Keep saved tasks and completion states.</a:t>
            </a:r>
          </a:p>
        </p:txBody>
      </p:sp>
      <p:sp>
        <p:nvSpPr>
          <p:cNvPr id="10" name="text-9">
            <a:extLst xmlns:a="http://schemas.openxmlformats.org/drawingml/2006/main">
              <a:ext uri="{FF2B5EF4-FFF2-40B4-BE49-F238E27FC236}">
                <a16:creationId xmlns:a16="http://schemas.microsoft.com/office/drawing/2014/main" id="{B1A1F905-5F8D-48D4-88E8-B73AD54BDF35}"/>
              </a:ext>
            </a:extLst>
          </p:cNvPr>
          <p:cNvSpPr>
            <a:spLocks xmlns:a="http://schemas.openxmlformats.org/drawingml/2006/main" noGrp="1"/>
          </p:cNvSpPr>
          <p:nvPr/>
        </p:nvSpPr>
        <p:spPr>
          <a:xfrm xmlns:a="http://schemas.openxmlformats.org/drawingml/2006/main">
            <a:off x="7762875" y="24098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03</a:t>
            </a:r>
          </a:p>
        </p:txBody>
      </p:sp>
      <p:sp>
        <p:nvSpPr>
          <p:cNvPr id="11" name="text-10">
            <a:extLst xmlns:a="http://schemas.openxmlformats.org/drawingml/2006/main">
              <a:ext uri="{FF2B5EF4-FFF2-40B4-BE49-F238E27FC236}">
                <a16:creationId xmlns:a16="http://schemas.microsoft.com/office/drawing/2014/main" id="{4B9A7AA9-F951-4D10-8297-59CACD65449B}"/>
              </a:ext>
            </a:extLst>
          </p:cNvPr>
          <p:cNvSpPr>
            <a:spLocks xmlns:a="http://schemas.openxmlformats.org/drawingml/2006/main" noGrp="1"/>
          </p:cNvSpPr>
          <p:nvPr/>
        </p:nvSpPr>
        <p:spPr>
          <a:xfrm xmlns:a="http://schemas.openxmlformats.org/drawingml/2006/main">
            <a:off x="8524875" y="240982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Inspect the returned revision</a:t>
            </a:r>
          </a:p>
        </p:txBody>
      </p:sp>
      <p:sp>
        <p:nvSpPr>
          <p:cNvPr id="12" name="text-11">
            <a:extLst xmlns:a="http://schemas.openxmlformats.org/drawingml/2006/main">
              <a:ext uri="{FF2B5EF4-FFF2-40B4-BE49-F238E27FC236}">
                <a16:creationId xmlns:a16="http://schemas.microsoft.com/office/drawing/2014/main" id="{FA9FB961-2B0B-4DB7-B4F4-01ECDDDDD7D4}"/>
              </a:ext>
            </a:extLst>
          </p:cNvPr>
          <p:cNvSpPr>
            <a:spLocks xmlns:a="http://schemas.openxmlformats.org/drawingml/2006/main" noGrp="1"/>
          </p:cNvSpPr>
          <p:nvPr/>
        </p:nvSpPr>
        <p:spPr>
          <a:xfrm xmlns:a="http://schemas.openxmlformats.org/drawingml/2006/main">
            <a:off x="8524875" y="2962275"/>
            <a:ext cx="5810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Open its preview, test the change, and use the exact approval command in the bot reply.</a:t>
            </a:r>
          </a:p>
        </p:txBody>
      </p:sp>
      <p:sp>
        <p:nvSpPr>
          <p:cNvPr id="13" name="text-12">
            <a:extLst xmlns:a="http://schemas.openxmlformats.org/drawingml/2006/main">
              <a:ext uri="{FF2B5EF4-FFF2-40B4-BE49-F238E27FC236}">
                <a16:creationId xmlns:a16="http://schemas.microsoft.com/office/drawing/2014/main" id="{2D2EEAD8-1F35-4897-8F2F-04FDC6E11337}"/>
              </a:ext>
            </a:extLst>
          </p:cNvPr>
          <p:cNvSpPr>
            <a:spLocks xmlns:a="http://schemas.openxmlformats.org/drawingml/2006/main" noGrp="1"/>
          </p:cNvSpPr>
          <p:nvPr/>
        </p:nvSpPr>
        <p:spPr>
          <a:xfrm xmlns:a="http://schemas.openxmlformats.org/drawingml/2006/main">
            <a:off x="7762875" y="47244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04</a:t>
            </a:r>
          </a:p>
        </p:txBody>
      </p:sp>
      <p:sp>
        <p:nvSpPr>
          <p:cNvPr id="14" name="text-13">
            <a:extLst xmlns:a="http://schemas.openxmlformats.org/drawingml/2006/main">
              <a:ext uri="{FF2B5EF4-FFF2-40B4-BE49-F238E27FC236}">
                <a16:creationId xmlns:a16="http://schemas.microsoft.com/office/drawing/2014/main" id="{2C40072A-BA4A-4143-BB99-A7E6138B7B9F}"/>
              </a:ext>
            </a:extLst>
          </p:cNvPr>
          <p:cNvSpPr>
            <a:spLocks xmlns:a="http://schemas.openxmlformats.org/drawingml/2006/main" noGrp="1"/>
          </p:cNvSpPr>
          <p:nvPr/>
        </p:nvSpPr>
        <p:spPr>
          <a:xfrm xmlns:a="http://schemas.openxmlformats.org/drawingml/2006/main">
            <a:off x="8524875" y="4724400"/>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Check progress when needed</a:t>
            </a:r>
          </a:p>
        </p:txBody>
      </p:sp>
      <p:sp>
        <p:nvSpPr>
          <p:cNvPr id="15" name="text-14">
            <a:extLst xmlns:a="http://schemas.openxmlformats.org/drawingml/2006/main">
              <a:ext uri="{FF2B5EF4-FFF2-40B4-BE49-F238E27FC236}">
                <a16:creationId xmlns:a16="http://schemas.microsoft.com/office/drawing/2014/main" id="{EB9E97E8-0A04-45B4-8C88-7162A59A42F1}"/>
              </a:ext>
            </a:extLst>
          </p:cNvPr>
          <p:cNvSpPr>
            <a:spLocks xmlns:a="http://schemas.openxmlformats.org/drawingml/2006/main" noGrp="1"/>
          </p:cNvSpPr>
          <p:nvPr/>
        </p:nvSpPr>
        <p:spPr>
          <a:xfrm xmlns:a="http://schemas.openxmlformats.org/drawingml/2006/main">
            <a:off x="8524875" y="5276850"/>
            <a:ext cx="5810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/status &lt;run ID&gt;</a:t>
            </a:r>
          </a:p>
        </p:txBody>
      </p:sp>
      <p:sp>
        <p:nvSpPr>
          <p:cNvPr id="16" name="text-15">
            <a:extLst xmlns:a="http://schemas.openxmlformats.org/drawingml/2006/main">
              <a:ext uri="{FF2B5EF4-FFF2-40B4-BE49-F238E27FC236}">
                <a16:creationId xmlns:a16="http://schemas.microsoft.com/office/drawing/2014/main" id="{9B257BCB-AA29-454D-8960-3F8F4895D516}"/>
              </a:ext>
            </a:extLst>
          </p:cNvPr>
          <p:cNvSpPr>
            <a:spLocks xmlns:a="http://schemas.openxmlformats.org/drawingml/2006/main" noGrp="1"/>
          </p:cNvSpPr>
          <p:nvPr/>
        </p:nvSpPr>
        <p:spPr>
          <a:xfrm xmlns:a="http://schemas.openxmlformats.org/drawingml/2006/main">
            <a:off x="781050" y="714375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7A55"/>
                </a:solidFill>
                <a:latin typeface="Helvetica Neue"/>
                <a:ea typeface="Helvetica Neue"/>
                <a:cs typeface="Helvetica Neue"/>
              </a:defRPr>
            </a:pPr>
            <a:r>
              <a:rPr>
                <a:hlinkClick xmlns:r="http://schemas.openxmlformats.org/officeDocument/2006/relationships" r:id="R1af89d6f2f3445b1"/>
              </a:rPr>
              <a:t>Open the OrbitFlow bot</a:t>
            </a:r>
          </a:p>
        </p:txBody>
      </p:sp>
      <p:sp>
        <p:nvSpPr>
          <p:cNvPr id="17" name="text-16">
            <a:extLst xmlns:a="http://schemas.openxmlformats.org/drawingml/2006/main">
              <a:ext uri="{FF2B5EF4-FFF2-40B4-BE49-F238E27FC236}">
                <a16:creationId xmlns:a16="http://schemas.microsoft.com/office/drawing/2014/main" id="{47845AE1-8071-4662-854A-C1DA539C861D}"/>
              </a:ext>
            </a:extLst>
          </p:cNvPr>
          <p:cNvSpPr>
            <a:spLocks xmlns:a="http://schemas.openxmlformats.org/drawingml/2006/main" noGrp="1"/>
          </p:cNvSpPr>
          <p:nvPr/>
        </p:nvSpPr>
        <p:spPr>
          <a:xfrm xmlns:a="http://schemas.openxmlformats.org/drawingml/2006/main">
            <a:off x="781050" y="7781925"/>
            <a:ext cx="1328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86C60"/>
                </a:solidFill>
                <a:latin typeface="Helvetica Neue"/>
                <a:ea typeface="Helvetica Neue"/>
                <a:cs typeface="Helvetica Neue"/>
              </a:defRPr>
            </a:pPr>
            <a:r>
              <a:rPr sz="1950" b="0">
                <a:solidFill>
                  <a:srgbClr val="586C60"/>
                </a:solidFill>
                <a:latin typeface="Helvetica Neue"/>
                <a:ea typeface="Helvetica Neue"/>
                <a:cs typeface="Helvetica Neue"/>
              </a:rPr>
              <a:t>/help lists commands. Ordinary messages converse with the connected agent.</a:t>
            </a:r>
          </a:p>
        </p:txBody>
      </p:sp>
    </p:spTree>
    <p:extLst>
      <p:ext uri="{BB962C8B-B14F-4D97-AF65-F5344CB8AC3E}">
        <p14:creationId xmlns:p14="http://schemas.microsoft.com/office/powerpoint/2010/main" val="1587954809"/>
      </p:ext>
    </p:extLst>
  </p:cSld>
</p:sld>
</file>

<file path=ppt/slides/slide1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FA25381-B78A-41C8-8562-1A9DF3CFAF2A}"/>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Agent identity and approval settings</a:t>
            </a:r>
          </a:p>
        </p:txBody>
      </p:sp>
      <p:sp>
        <p:nvSpPr>
          <p:cNvPr id="2" name="text-1">
            <a:extLst xmlns:a="http://schemas.openxmlformats.org/drawingml/2006/main">
              <a:ext uri="{FF2B5EF4-FFF2-40B4-BE49-F238E27FC236}">
                <a16:creationId xmlns:a16="http://schemas.microsoft.com/office/drawing/2014/main" id="{DD404EC4-63A5-45DE-8F9C-4FE137AA1939}"/>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Agents: use the pencil beside the agent you want to change, then “Save agent”.</a:t>
            </a:r>
          </a:p>
        </p:txBody>
      </p:sp>
      <p:sp>
        <p:nvSpPr>
          <p:cNvPr id="3" name="text-2">
            <a:extLst xmlns:a="http://schemas.openxmlformats.org/drawingml/2006/main">
              <a:ext uri="{FF2B5EF4-FFF2-40B4-BE49-F238E27FC236}">
                <a16:creationId xmlns:a16="http://schemas.microsoft.com/office/drawing/2014/main" id="{59E97A4A-18A0-4B83-9F3F-CBD73CDDED15}"/>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11</a:t>
            </a:r>
          </a:p>
        </p:txBody>
      </p:sp>
      <p:sp>
        <p:nvSpPr>
          <p:cNvPr id="4" name="text-3">
            <a:extLst xmlns:a="http://schemas.openxmlformats.org/drawingml/2006/main">
              <a:ext uri="{FF2B5EF4-FFF2-40B4-BE49-F238E27FC236}">
                <a16:creationId xmlns:a16="http://schemas.microsoft.com/office/drawing/2014/main" id="{F6D59546-AB59-44BA-8B5F-139A3F81D4C7}"/>
              </a:ext>
            </a:extLst>
          </p:cNvPr>
          <p:cNvSpPr>
            <a:spLocks xmlns:a="http://schemas.openxmlformats.org/drawingml/2006/main" noGrp="1"/>
          </p:cNvSpPr>
          <p:nvPr/>
        </p:nvSpPr>
        <p:spPr>
          <a:xfrm xmlns:a="http://schemas.openxmlformats.org/drawingml/2006/main">
            <a:off x="762000" y="2457450"/>
            <a:ext cx="552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Name and role</a:t>
            </a:r>
          </a:p>
        </p:txBody>
      </p:sp>
      <p:sp>
        <p:nvSpPr>
          <p:cNvPr id="5" name="text-4">
            <a:extLst xmlns:a="http://schemas.openxmlformats.org/drawingml/2006/main">
              <a:ext uri="{FF2B5EF4-FFF2-40B4-BE49-F238E27FC236}">
                <a16:creationId xmlns:a16="http://schemas.microsoft.com/office/drawing/2014/main" id="{AA09B2B6-1828-4A18-93D5-E80E8209DE62}"/>
              </a:ext>
            </a:extLst>
          </p:cNvPr>
          <p:cNvSpPr>
            <a:spLocks xmlns:a="http://schemas.openxmlformats.org/drawingml/2006/main" noGrp="1"/>
          </p:cNvSpPr>
          <p:nvPr/>
        </p:nvSpPr>
        <p:spPr>
          <a:xfrm xmlns:a="http://schemas.openxmlformats.org/drawingml/2006/main">
            <a:off x="762000" y="2962275"/>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41F"/>
                </a:solidFill>
                <a:latin typeface="Helvetica Neue"/>
                <a:ea typeface="Helvetica Neue"/>
                <a:cs typeface="Helvetica Neue"/>
              </a:defRPr>
            </a:pPr>
            <a:r>
              <a:rPr sz="2175" b="0">
                <a:solidFill>
                  <a:srgbClr val="18241F"/>
                </a:solidFill>
                <a:latin typeface="Helvetica Neue"/>
                <a:ea typeface="Helvetica Neue"/>
                <a:cs typeface="Helvetica Neue"/>
              </a:rPr>
              <a:t>Identify who owns a step in the workflow.</a:t>
            </a:r>
          </a:p>
        </p:txBody>
      </p:sp>
      <p:sp>
        <p:nvSpPr>
          <p:cNvPr id="6" name="text-5">
            <a:extLst xmlns:a="http://schemas.openxmlformats.org/drawingml/2006/main">
              <a:ext uri="{FF2B5EF4-FFF2-40B4-BE49-F238E27FC236}">
                <a16:creationId xmlns:a16="http://schemas.microsoft.com/office/drawing/2014/main" id="{07934749-FDAC-436B-8B3A-C881E4EC3BC0}"/>
              </a:ext>
            </a:extLst>
          </p:cNvPr>
          <p:cNvSpPr>
            <a:spLocks xmlns:a="http://schemas.openxmlformats.org/drawingml/2006/main" noGrp="1"/>
          </p:cNvSpPr>
          <p:nvPr/>
        </p:nvSpPr>
        <p:spPr>
          <a:xfrm xmlns:a="http://schemas.openxmlformats.org/drawingml/2006/main">
            <a:off x="762000" y="4095750"/>
            <a:ext cx="552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Model and system prompt</a:t>
            </a:r>
          </a:p>
        </p:txBody>
      </p:sp>
      <p:sp>
        <p:nvSpPr>
          <p:cNvPr id="7" name="text-6">
            <a:extLst xmlns:a="http://schemas.openxmlformats.org/drawingml/2006/main">
              <a:ext uri="{FF2B5EF4-FFF2-40B4-BE49-F238E27FC236}">
                <a16:creationId xmlns:a16="http://schemas.microsoft.com/office/drawing/2014/main" id="{A864A659-40BE-44AC-B163-A52B679ECABE}"/>
              </a:ext>
            </a:extLst>
          </p:cNvPr>
          <p:cNvSpPr>
            <a:spLocks xmlns:a="http://schemas.openxmlformats.org/drawingml/2006/main" noGrp="1"/>
          </p:cNvSpPr>
          <p:nvPr/>
        </p:nvSpPr>
        <p:spPr>
          <a:xfrm xmlns:a="http://schemas.openxmlformats.org/drawingml/2006/main">
            <a:off x="762000" y="4600575"/>
            <a:ext cx="5286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41F"/>
                </a:solidFill>
                <a:latin typeface="Helvetica Neue"/>
                <a:ea typeface="Helvetica Neue"/>
                <a:cs typeface="Helvetica Neue"/>
              </a:defRPr>
            </a:pPr>
            <a:r>
              <a:rPr sz="2175" b="0">
                <a:solidFill>
                  <a:srgbClr val="18241F"/>
                </a:solidFill>
                <a:latin typeface="Helvetica Neue"/>
                <a:ea typeface="Helvetica Neue"/>
                <a:cs typeface="Helvetica Neue"/>
              </a:rPr>
              <a:t>Choose a valid provider/model ID and describe the job and expected outcome.</a:t>
            </a:r>
          </a:p>
        </p:txBody>
      </p:sp>
      <p:sp>
        <p:nvSpPr>
          <p:cNvPr id="8" name="text-7">
            <a:extLst xmlns:a="http://schemas.openxmlformats.org/drawingml/2006/main">
              <a:ext uri="{FF2B5EF4-FFF2-40B4-BE49-F238E27FC236}">
                <a16:creationId xmlns:a16="http://schemas.microsoft.com/office/drawing/2014/main" id="{C3D55E5C-18C7-4C4F-A03C-9C8C2C0AD890}"/>
              </a:ext>
            </a:extLst>
          </p:cNvPr>
          <p:cNvSpPr>
            <a:spLocks xmlns:a="http://schemas.openxmlformats.org/drawingml/2006/main" noGrp="1"/>
          </p:cNvSpPr>
          <p:nvPr/>
        </p:nvSpPr>
        <p:spPr>
          <a:xfrm xmlns:a="http://schemas.openxmlformats.org/drawingml/2006/main">
            <a:off x="762000" y="5991225"/>
            <a:ext cx="5524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Approval rule</a:t>
            </a:r>
          </a:p>
        </p:txBody>
      </p:sp>
      <p:sp>
        <p:nvSpPr>
          <p:cNvPr id="9" name="text-8">
            <a:extLst xmlns:a="http://schemas.openxmlformats.org/drawingml/2006/main">
              <a:ext uri="{FF2B5EF4-FFF2-40B4-BE49-F238E27FC236}">
                <a16:creationId xmlns:a16="http://schemas.microsoft.com/office/drawing/2014/main" id="{028F14FD-BD95-465D-90C3-0D69CADDE649}"/>
              </a:ext>
            </a:extLst>
          </p:cNvPr>
          <p:cNvSpPr>
            <a:spLocks xmlns:a="http://schemas.openxmlformats.org/drawingml/2006/main" noGrp="1"/>
          </p:cNvSpPr>
          <p:nvPr/>
        </p:nvSpPr>
        <p:spPr>
          <a:xfrm xmlns:a="http://schemas.openxmlformats.org/drawingml/2006/main">
            <a:off x="762000" y="6496050"/>
            <a:ext cx="5286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41F"/>
                </a:solidFill>
                <a:latin typeface="Helvetica Neue"/>
                <a:ea typeface="Helvetica Neue"/>
                <a:cs typeface="Helvetica Neue"/>
              </a:defRPr>
            </a:pPr>
            <a:r>
              <a:rPr sz="2175" b="0">
                <a:solidFill>
                  <a:srgbClr val="18241F"/>
                </a:solidFill>
                <a:latin typeface="Helvetica Neue"/>
                <a:ea typeface="Helvetica Neue"/>
                <a:cs typeface="Helvetica Neue"/>
              </a:rPr>
              <a:t>Choose autonomy, final revision approval, or approval before every turn.</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b6fb4e5f3bb4aac"/>
          <a:stretch xmlns:a="http://schemas.openxmlformats.org/drawingml/2006/main"/>
        </p:blipFill>
        <p:spPr>
          <a:xfrm xmlns:a="http://schemas.openxmlformats.org/drawingml/2006/main">
            <a:off x="6572250" y="2862984"/>
            <a:ext cx="8001000" cy="3808557"/>
          </a:xfrm>
          <a:prstGeom xmlns:a="http://schemas.openxmlformats.org/drawingml/2006/main" prst="rect">
            <a:avLst/>
          </a:prstGeom>
        </p:spPr>
      </p:pic>
      <p:sp>
        <p:nvSpPr>
          <p:cNvPr id="11" name="text-9">
            <a:extLst xmlns:a="http://schemas.openxmlformats.org/drawingml/2006/main">
              <a:ext uri="{FF2B5EF4-FFF2-40B4-BE49-F238E27FC236}">
                <a16:creationId xmlns:a16="http://schemas.microsoft.com/office/drawing/2014/main" id="{77231C56-2DAF-43C9-A956-86CAD5B09331}"/>
              </a:ext>
            </a:extLst>
          </p:cNvPr>
          <p:cNvSpPr>
            <a:spLocks xmlns:a="http://schemas.openxmlformats.org/drawingml/2006/main" noGrp="1"/>
          </p:cNvSpPr>
          <p:nvPr/>
        </p:nvSpPr>
        <p:spPr>
          <a:xfrm xmlns:a="http://schemas.openxmlformats.org/drawingml/2006/main">
            <a:off x="6638925" y="7334250"/>
            <a:ext cx="78581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C60"/>
                </a:solidFill>
                <a:latin typeface="Helvetica Neue"/>
                <a:ea typeface="Helvetica Neue"/>
                <a:cs typeface="Helvetica Neue"/>
              </a:defRPr>
            </a:pPr>
            <a:r>
              <a:rPr sz="1875" b="0">
                <a:solidFill>
                  <a:srgbClr val="586C60"/>
                </a:solidFill>
                <a:latin typeface="Helvetica Neue"/>
                <a:ea typeface="Helvetica Neue"/>
                <a:cs typeface="Helvetica Neue"/>
              </a:rPr>
              <a:t>Find the workflow’s actual agent before editing. Loaded templates create copies.</a:t>
            </a:r>
          </a:p>
        </p:txBody>
      </p:sp>
    </p:spTree>
    <p:extLst>
      <p:ext uri="{BB962C8B-B14F-4D97-AF65-F5344CB8AC3E}">
        <p14:creationId xmlns:p14="http://schemas.microsoft.com/office/powerpoint/2010/main" val="1616535155"/>
      </p:ext>
    </p:extLst>
  </p:cSld>
</p:sld>
</file>

<file path=ppt/slides/slide1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34A0260-3DE9-4969-8B49-DBBC2F8A272F}"/>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Tools, memory, and reusable skills</a:t>
            </a:r>
          </a:p>
        </p:txBody>
      </p:sp>
      <p:sp>
        <p:nvSpPr>
          <p:cNvPr id="2" name="text-1">
            <a:extLst xmlns:a="http://schemas.openxmlformats.org/drawingml/2006/main">
              <a:ext uri="{FF2B5EF4-FFF2-40B4-BE49-F238E27FC236}">
                <a16:creationId xmlns:a16="http://schemas.microsoft.com/office/drawing/2014/main" id="{367C8290-4DE5-444B-8846-41A48E7AEDA2}"/>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74d014f2fa6432f"/>
          <a:stretch xmlns:a="http://schemas.openxmlformats.org/drawingml/2006/main"/>
        </p:blipFill>
        <p:spPr>
          <a:xfrm xmlns:a="http://schemas.openxmlformats.org/drawingml/2006/main">
            <a:off x="6286500" y="2364545"/>
            <a:ext cx="8286750" cy="409106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338B2173-0681-4E73-9EBF-741991CD47C0}"/>
              </a:ext>
            </a:extLst>
          </p:cNvPr>
          <p:cNvSpPr>
            <a:spLocks xmlns:a="http://schemas.openxmlformats.org/drawingml/2006/main" noGrp="1"/>
          </p:cNvSpPr>
          <p:nvPr/>
        </p:nvSpPr>
        <p:spPr>
          <a:xfrm xmlns:a="http://schemas.openxmlformats.org/drawingml/2006/main">
            <a:off x="762000" y="22955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Tools</a:t>
            </a:r>
          </a:p>
        </p:txBody>
      </p:sp>
      <p:sp>
        <p:nvSpPr>
          <p:cNvPr id="5" name="text-3">
            <a:extLst xmlns:a="http://schemas.openxmlformats.org/drawingml/2006/main">
              <a:ext uri="{FF2B5EF4-FFF2-40B4-BE49-F238E27FC236}">
                <a16:creationId xmlns:a16="http://schemas.microsoft.com/office/drawing/2014/main" id="{B3E96723-AB8E-4EC8-8EE3-BD52B4196E58}"/>
              </a:ext>
            </a:extLst>
          </p:cNvPr>
          <p:cNvSpPr>
            <a:spLocks xmlns:a="http://schemas.openxmlformats.org/drawingml/2006/main" noGrp="1"/>
          </p:cNvSpPr>
          <p:nvPr/>
        </p:nvSpPr>
        <p:spPr>
          <a:xfrm xmlns:a="http://schemas.openxmlformats.org/drawingml/2006/main">
            <a:off x="762000" y="2828925"/>
            <a:ext cx="5000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41F"/>
                </a:solidFill>
                <a:latin typeface="Helvetica Neue"/>
                <a:ea typeface="Helvetica Neue"/>
                <a:cs typeface="Helvetica Neue"/>
              </a:defRPr>
            </a:pPr>
            <a:r>
              <a:rPr sz="2175" b="0">
                <a:solidFill>
                  <a:srgbClr val="18241F"/>
                </a:solidFill>
                <a:latin typeface="Helvetica Neue"/>
                <a:ea typeface="Helvetica Neue"/>
                <a:cs typeface="Helvetica Neue"/>
              </a:rPr>
              <a:t>Enter allowed native tool names, one per line. Builders need write access.</a:t>
            </a:r>
          </a:p>
        </p:txBody>
      </p:sp>
      <p:sp>
        <p:nvSpPr>
          <p:cNvPr id="6" name="text-4">
            <a:extLst xmlns:a="http://schemas.openxmlformats.org/drawingml/2006/main">
              <a:ext uri="{FF2B5EF4-FFF2-40B4-BE49-F238E27FC236}">
                <a16:creationId xmlns:a16="http://schemas.microsoft.com/office/drawing/2014/main" id="{315A4A98-D0EB-4438-90D2-38D8A46AB5FE}"/>
              </a:ext>
            </a:extLst>
          </p:cNvPr>
          <p:cNvSpPr>
            <a:spLocks xmlns:a="http://schemas.openxmlformats.org/drawingml/2006/main" noGrp="1"/>
          </p:cNvSpPr>
          <p:nvPr/>
        </p:nvSpPr>
        <p:spPr>
          <a:xfrm xmlns:a="http://schemas.openxmlformats.org/drawingml/2006/main">
            <a:off x="762000" y="43434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Memory</a:t>
            </a:r>
          </a:p>
        </p:txBody>
      </p:sp>
      <p:sp>
        <p:nvSpPr>
          <p:cNvPr id="7" name="text-5">
            <a:extLst xmlns:a="http://schemas.openxmlformats.org/drawingml/2006/main">
              <a:ext uri="{FF2B5EF4-FFF2-40B4-BE49-F238E27FC236}">
                <a16:creationId xmlns:a16="http://schemas.microsoft.com/office/drawing/2014/main" id="{C54FE546-1CE9-44C2-B3C1-FA9F625B484C}"/>
              </a:ext>
            </a:extLst>
          </p:cNvPr>
          <p:cNvSpPr>
            <a:spLocks xmlns:a="http://schemas.openxmlformats.org/drawingml/2006/main" noGrp="1"/>
          </p:cNvSpPr>
          <p:nvPr/>
        </p:nvSpPr>
        <p:spPr>
          <a:xfrm xmlns:a="http://schemas.openxmlformats.org/drawingml/2006/main">
            <a:off x="762000" y="4876800"/>
            <a:ext cx="50006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41F"/>
                </a:solidFill>
                <a:latin typeface="Helvetica Neue"/>
                <a:ea typeface="Helvetica Neue"/>
                <a:cs typeface="Helvetica Neue"/>
              </a:defRPr>
            </a:pPr>
            <a:r>
              <a:rPr sz="2175" b="0">
                <a:solidFill>
                  <a:srgbClr val="18241F"/>
                </a:solidFill>
                <a:latin typeface="Helvetica Neue"/>
                <a:ea typeface="Helvetica Neue"/>
                <a:cs typeface="Helvetica Neue"/>
              </a:rPr>
              <a:t>Save facts or preferences the agent should receive in future turns.</a:t>
            </a:r>
          </a:p>
        </p:txBody>
      </p:sp>
      <p:sp>
        <p:nvSpPr>
          <p:cNvPr id="8" name="text-6">
            <a:extLst xmlns:a="http://schemas.openxmlformats.org/drawingml/2006/main">
              <a:ext uri="{FF2B5EF4-FFF2-40B4-BE49-F238E27FC236}">
                <a16:creationId xmlns:a16="http://schemas.microsoft.com/office/drawing/2014/main" id="{6392BA1E-6E1A-4594-89D4-710B6A584112}"/>
              </a:ext>
            </a:extLst>
          </p:cNvPr>
          <p:cNvSpPr>
            <a:spLocks xmlns:a="http://schemas.openxmlformats.org/drawingml/2006/main" noGrp="1"/>
          </p:cNvSpPr>
          <p:nvPr/>
        </p:nvSpPr>
        <p:spPr>
          <a:xfrm xmlns:a="http://schemas.openxmlformats.org/drawingml/2006/main">
            <a:off x="762000" y="638175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Skills</a:t>
            </a:r>
          </a:p>
        </p:txBody>
      </p:sp>
      <p:sp>
        <p:nvSpPr>
          <p:cNvPr id="9" name="text-7">
            <a:extLst xmlns:a="http://schemas.openxmlformats.org/drawingml/2006/main">
              <a:ext uri="{FF2B5EF4-FFF2-40B4-BE49-F238E27FC236}">
                <a16:creationId xmlns:a16="http://schemas.microsoft.com/office/drawing/2014/main" id="{A7103972-0492-4C74-89F3-2DD159399AD8}"/>
              </a:ext>
            </a:extLst>
          </p:cNvPr>
          <p:cNvSpPr>
            <a:spLocks xmlns:a="http://schemas.openxmlformats.org/drawingml/2006/main" noGrp="1"/>
          </p:cNvSpPr>
          <p:nvPr/>
        </p:nvSpPr>
        <p:spPr>
          <a:xfrm xmlns:a="http://schemas.openxmlformats.org/drawingml/2006/main">
            <a:off x="762000" y="6915150"/>
            <a:ext cx="5000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41F"/>
                </a:solidFill>
                <a:latin typeface="Helvetica Neue"/>
                <a:ea typeface="Helvetica Neue"/>
                <a:cs typeface="Helvetica Neue"/>
              </a:defRPr>
            </a:pPr>
            <a:r>
              <a:rPr sz="2175" b="0">
                <a:solidFill>
                  <a:srgbClr val="18241F"/>
                </a:solidFill>
                <a:latin typeface="Helvetica Neue"/>
                <a:ea typeface="Helvetica Neue"/>
                <a:cs typeface="Helvetica Neue"/>
              </a:rPr>
              <a:t>Name a procedure, enter its steps, click Add skill, then Save agent.</a:t>
            </a:r>
          </a:p>
        </p:txBody>
      </p:sp>
      <p:sp>
        <p:nvSpPr>
          <p:cNvPr id="10" name="text-8">
            <a:extLst xmlns:a="http://schemas.openxmlformats.org/drawingml/2006/main">
              <a:ext uri="{FF2B5EF4-FFF2-40B4-BE49-F238E27FC236}">
                <a16:creationId xmlns:a16="http://schemas.microsoft.com/office/drawing/2014/main" id="{52480E8A-C857-442A-8CF4-62E694932000}"/>
              </a:ext>
            </a:extLst>
          </p:cNvPr>
          <p:cNvSpPr>
            <a:spLocks xmlns:a="http://schemas.openxmlformats.org/drawingml/2006/main" noGrp="1"/>
          </p:cNvSpPr>
          <p:nvPr/>
        </p:nvSpPr>
        <p:spPr>
          <a:xfrm xmlns:a="http://schemas.openxmlformats.org/drawingml/2006/main">
            <a:off x="6572250" y="7172325"/>
            <a:ext cx="776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C60"/>
                </a:solidFill>
                <a:latin typeface="Helvetica Neue"/>
                <a:ea typeface="Helvetica Neue"/>
                <a:cs typeface="Helvetica Neue"/>
              </a:defRPr>
            </a:pPr>
            <a:r>
              <a:rPr sz="2100" b="0">
                <a:solidFill>
                  <a:srgbClr val="586C60"/>
                </a:solidFill>
                <a:latin typeface="Helvetica Neue"/>
                <a:ea typeface="Helvetica Neue"/>
                <a:cs typeface="Helvetica Neue"/>
              </a:rPr>
              <a:t>Example memory: Prefer concise interfaces with clearly labeled controls.</a:t>
            </a:r>
          </a:p>
        </p:txBody>
      </p:sp>
    </p:spTree>
    <p:extLst>
      <p:ext uri="{BB962C8B-B14F-4D97-AF65-F5344CB8AC3E}">
        <p14:creationId xmlns:p14="http://schemas.microsoft.com/office/powerpoint/2010/main" val="1061965570"/>
      </p:ext>
    </p:extLst>
  </p:cSld>
</p:sld>
</file>

<file path=ppt/slides/slide1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0BA14BD-61A6-40F0-B87A-74FA86CE76BE}"/>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Limits that bound agent work</a:t>
            </a:r>
          </a:p>
        </p:txBody>
      </p:sp>
      <p:sp>
        <p:nvSpPr>
          <p:cNvPr id="2" name="text-1">
            <a:extLst xmlns:a="http://schemas.openxmlformats.org/drawingml/2006/main">
              <a:ext uri="{FF2B5EF4-FFF2-40B4-BE49-F238E27FC236}">
                <a16:creationId xmlns:a16="http://schemas.microsoft.com/office/drawing/2014/main" id="{D27CEC37-5178-4D04-A58D-1E5EE9367BB1}"/>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Agents: the Guardrails section controls spending, turns, and allowed actions.</a:t>
            </a:r>
          </a:p>
        </p:txBody>
      </p:sp>
      <p:sp>
        <p:nvSpPr>
          <p:cNvPr id="3" name="text-2">
            <a:extLst xmlns:a="http://schemas.openxmlformats.org/drawingml/2006/main">
              <a:ext uri="{FF2B5EF4-FFF2-40B4-BE49-F238E27FC236}">
                <a16:creationId xmlns:a16="http://schemas.microsoft.com/office/drawing/2014/main" id="{3836DE53-9591-44CD-85AA-BA7D44AF9A35}"/>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2c62291e9254154"/>
          <a:stretch xmlns:a="http://schemas.openxmlformats.org/drawingml/2006/main"/>
        </p:blipFill>
        <p:spPr>
          <a:xfrm xmlns:a="http://schemas.openxmlformats.org/drawingml/2006/main">
            <a:off x="2953732" y="2333625"/>
            <a:ext cx="9332536" cy="3429000"/>
          </a:xfrm>
          <a:prstGeom xmlns:a="http://schemas.openxmlformats.org/drawingml/2006/main" prst="rect">
            <a:avLst/>
          </a:prstGeom>
        </p:spPr>
      </p:pic>
      <p:sp>
        <p:nvSpPr>
          <p:cNvPr id="5" name="text-3">
            <a:extLst xmlns:a="http://schemas.openxmlformats.org/drawingml/2006/main">
              <a:ext uri="{FF2B5EF4-FFF2-40B4-BE49-F238E27FC236}">
                <a16:creationId xmlns:a16="http://schemas.microsoft.com/office/drawing/2014/main" id="{F0A89F98-6855-48AC-AD7A-08F70E3375F6}"/>
              </a:ext>
            </a:extLst>
          </p:cNvPr>
          <p:cNvSpPr>
            <a:spLocks xmlns:a="http://schemas.openxmlformats.org/drawingml/2006/main" noGrp="1"/>
          </p:cNvSpPr>
          <p:nvPr/>
        </p:nvSpPr>
        <p:spPr>
          <a:xfrm xmlns:a="http://schemas.openxmlformats.org/drawingml/2006/main">
            <a:off x="781050" y="6191250"/>
            <a:ext cx="395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Cost limit per run</a:t>
            </a:r>
          </a:p>
        </p:txBody>
      </p:sp>
      <p:sp>
        <p:nvSpPr>
          <p:cNvPr id="6" name="text-4">
            <a:extLst xmlns:a="http://schemas.openxmlformats.org/drawingml/2006/main">
              <a:ext uri="{FF2B5EF4-FFF2-40B4-BE49-F238E27FC236}">
                <a16:creationId xmlns:a16="http://schemas.microsoft.com/office/drawing/2014/main" id="{F87D326D-F8DF-4D99-9ACB-8FB0A17D5D59}"/>
              </a:ext>
            </a:extLst>
          </p:cNvPr>
          <p:cNvSpPr>
            <a:spLocks xmlns:a="http://schemas.openxmlformats.org/drawingml/2006/main" noGrp="1"/>
          </p:cNvSpPr>
          <p:nvPr/>
        </p:nvSpPr>
        <p:spPr>
          <a:xfrm xmlns:a="http://schemas.openxmlformats.org/drawingml/2006/main">
            <a:off x="781050" y="671512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41F"/>
                </a:solidFill>
                <a:latin typeface="Helvetica Neue"/>
                <a:ea typeface="Helvetica Neue"/>
                <a:cs typeface="Helvetica Neue"/>
              </a:defRPr>
            </a:pPr>
            <a:r>
              <a:rPr sz="2100" b="0">
                <a:solidFill>
                  <a:srgbClr val="18241F"/>
                </a:solidFill>
                <a:latin typeface="Helvetica Neue"/>
                <a:ea typeface="Helvetica Neue"/>
                <a:cs typeface="Helvetica Neue"/>
              </a:rPr>
              <a:t>Bounds this agent’s reported spending within one run.</a:t>
            </a:r>
          </a:p>
        </p:txBody>
      </p:sp>
      <p:sp>
        <p:nvSpPr>
          <p:cNvPr id="7" name="text-5">
            <a:extLst xmlns:a="http://schemas.openxmlformats.org/drawingml/2006/main">
              <a:ext uri="{FF2B5EF4-FFF2-40B4-BE49-F238E27FC236}">
                <a16:creationId xmlns:a16="http://schemas.microsoft.com/office/drawing/2014/main" id="{B8EBBC1C-9186-4203-8441-5B840DF211AE}"/>
              </a:ext>
            </a:extLst>
          </p:cNvPr>
          <p:cNvSpPr>
            <a:spLocks xmlns:a="http://schemas.openxmlformats.org/drawingml/2006/main" noGrp="1"/>
          </p:cNvSpPr>
          <p:nvPr/>
        </p:nvSpPr>
        <p:spPr>
          <a:xfrm xmlns:a="http://schemas.openxmlformats.org/drawingml/2006/main">
            <a:off x="5448300" y="6191250"/>
            <a:ext cx="4619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Max turns and calls per hour</a:t>
            </a:r>
          </a:p>
        </p:txBody>
      </p:sp>
      <p:sp>
        <p:nvSpPr>
          <p:cNvPr id="8" name="text-6">
            <a:extLst xmlns:a="http://schemas.openxmlformats.org/drawingml/2006/main">
              <a:ext uri="{FF2B5EF4-FFF2-40B4-BE49-F238E27FC236}">
                <a16:creationId xmlns:a16="http://schemas.microsoft.com/office/drawing/2014/main" id="{5B704F10-295B-4EC0-80F8-1E56E9605763}"/>
              </a:ext>
            </a:extLst>
          </p:cNvPr>
          <p:cNvSpPr>
            <a:spLocks xmlns:a="http://schemas.openxmlformats.org/drawingml/2006/main" noGrp="1"/>
          </p:cNvSpPr>
          <p:nvPr/>
        </p:nvSpPr>
        <p:spPr>
          <a:xfrm xmlns:a="http://schemas.openxmlformats.org/drawingml/2006/main">
            <a:off x="5448300" y="671512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41F"/>
                </a:solidFill>
                <a:latin typeface="Helvetica Neue"/>
                <a:ea typeface="Helvetica Neue"/>
                <a:cs typeface="Helvetica Neue"/>
              </a:defRPr>
            </a:pPr>
            <a:r>
              <a:rPr sz="2100" b="0">
                <a:solidFill>
                  <a:srgbClr val="18241F"/>
                </a:solidFill>
                <a:latin typeface="Helvetica Neue"/>
                <a:ea typeface="Helvetica Neue"/>
                <a:cs typeface="Helvetica Neue"/>
              </a:rPr>
              <a:t>Bound feedback loops and how often the agent can start.</a:t>
            </a:r>
          </a:p>
        </p:txBody>
      </p:sp>
      <p:sp>
        <p:nvSpPr>
          <p:cNvPr id="9" name="text-7">
            <a:extLst xmlns:a="http://schemas.openxmlformats.org/drawingml/2006/main">
              <a:ext uri="{FF2B5EF4-FFF2-40B4-BE49-F238E27FC236}">
                <a16:creationId xmlns:a16="http://schemas.microsoft.com/office/drawing/2014/main" id="{58EA7253-969F-4FEB-8411-14FF6B7B6337}"/>
              </a:ext>
            </a:extLst>
          </p:cNvPr>
          <p:cNvSpPr>
            <a:spLocks xmlns:a="http://schemas.openxmlformats.org/drawingml/2006/main" noGrp="1"/>
          </p:cNvSpPr>
          <p:nvPr/>
        </p:nvSpPr>
        <p:spPr>
          <a:xfrm xmlns:a="http://schemas.openxmlformats.org/drawingml/2006/main">
            <a:off x="10477500" y="6191250"/>
            <a:ext cx="3905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7A55"/>
                </a:solidFill>
                <a:latin typeface="Helvetica Neue"/>
                <a:ea typeface="Helvetica Neue"/>
                <a:cs typeface="Helvetica Neue"/>
              </a:defRPr>
            </a:pPr>
            <a:r>
              <a:rPr sz="2325" b="1">
                <a:solidFill>
                  <a:srgbClr val="147A55"/>
                </a:solidFill>
                <a:latin typeface="Helvetica Neue"/>
                <a:ea typeface="Helvetica Neue"/>
                <a:cs typeface="Helvetica Neue"/>
              </a:rPr>
              <a:t>Blocked actions</a:t>
            </a:r>
          </a:p>
        </p:txBody>
      </p:sp>
      <p:sp>
        <p:nvSpPr>
          <p:cNvPr id="10" name="text-8">
            <a:extLst xmlns:a="http://schemas.openxmlformats.org/drawingml/2006/main">
              <a:ext uri="{FF2B5EF4-FFF2-40B4-BE49-F238E27FC236}">
                <a16:creationId xmlns:a16="http://schemas.microsoft.com/office/drawing/2014/main" id="{51BE0952-4CB7-45C4-8CA6-640631B5B447}"/>
              </a:ext>
            </a:extLst>
          </p:cNvPr>
          <p:cNvSpPr>
            <a:spLocks xmlns:a="http://schemas.openxmlformats.org/drawingml/2006/main" noGrp="1"/>
          </p:cNvSpPr>
          <p:nvPr/>
        </p:nvSpPr>
        <p:spPr>
          <a:xfrm xmlns:a="http://schemas.openxmlformats.org/drawingml/2006/main">
            <a:off x="10477500" y="67151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41F"/>
                </a:solidFill>
                <a:latin typeface="Helvetica Neue"/>
                <a:ea typeface="Helvetica Neue"/>
                <a:cs typeface="Helvetica Neue"/>
              </a:defRPr>
            </a:pPr>
            <a:r>
              <a:rPr sz="2100" b="0">
                <a:solidFill>
                  <a:srgbClr val="18241F"/>
                </a:solidFill>
                <a:latin typeface="Helvetica Neue"/>
                <a:ea typeface="Helvetica Neue"/>
                <a:cs typeface="Helvetica Neue"/>
              </a:rPr>
              <a:t>Use exact tool names. A blocked tool stays unavailable.</a:t>
            </a:r>
          </a:p>
        </p:txBody>
      </p:sp>
    </p:spTree>
    <p:extLst>
      <p:ext uri="{BB962C8B-B14F-4D97-AF65-F5344CB8AC3E}">
        <p14:creationId xmlns:p14="http://schemas.microsoft.com/office/powerpoint/2010/main" val="1382191386"/>
      </p:ext>
    </p:extLst>
  </p:cSld>
</p:sld>
</file>

<file path=ppt/slides/slide14.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EC108ED3-47F4-4FCA-AEFB-C7B152534413}"/>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Schedules and a conversation channel</a:t>
            </a:r>
          </a:p>
        </p:txBody>
      </p:sp>
      <p:sp>
        <p:nvSpPr>
          <p:cNvPr id="2" name="text-1">
            <a:extLst xmlns:a="http://schemas.openxmlformats.org/drawingml/2006/main">
              <a:ext uri="{FF2B5EF4-FFF2-40B4-BE49-F238E27FC236}">
                <a16:creationId xmlns:a16="http://schemas.microsoft.com/office/drawing/2014/main" id="{14286F02-9557-4634-B2FB-9AA1929C6E63}"/>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14</a:t>
            </a:r>
          </a:p>
        </p:txBody>
      </p:sp>
      <p:sp>
        <p:nvSpPr>
          <p:cNvPr id="3" name="text-2">
            <a:extLst xmlns:a="http://schemas.openxmlformats.org/drawingml/2006/main">
              <a:ext uri="{FF2B5EF4-FFF2-40B4-BE49-F238E27FC236}">
                <a16:creationId xmlns:a16="http://schemas.microsoft.com/office/drawing/2014/main" id="{CCE46405-582E-49CB-A016-3A686A55B2E3}"/>
              </a:ext>
            </a:extLst>
          </p:cNvPr>
          <p:cNvSpPr>
            <a:spLocks xmlns:a="http://schemas.openxmlformats.org/drawingml/2006/main" noGrp="1"/>
          </p:cNvSpPr>
          <p:nvPr/>
        </p:nvSpPr>
        <p:spPr>
          <a:xfrm xmlns:a="http://schemas.openxmlformats.org/drawingml/2006/main">
            <a:off x="762000" y="2190750"/>
            <a:ext cx="5429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7A55"/>
                </a:solidFill>
                <a:latin typeface="Helvetica Neue"/>
                <a:ea typeface="Helvetica Neue"/>
                <a:cs typeface="Helvetica Neue"/>
              </a:defRPr>
            </a:pPr>
            <a:r>
              <a:rPr sz="2700" b="1">
                <a:solidFill>
                  <a:srgbClr val="147A55"/>
                </a:solidFill>
                <a:latin typeface="Helvetica Neue"/>
                <a:ea typeface="Helvetica Neue"/>
                <a:cs typeface="Helvetica Neue"/>
              </a:rPr>
              <a:t>Scheduled work</a:t>
            </a:r>
          </a:p>
        </p:txBody>
      </p:sp>
      <p:sp>
        <p:nvSpPr>
          <p:cNvPr id="4" name="text-3">
            <a:extLst xmlns:a="http://schemas.openxmlformats.org/drawingml/2006/main">
              <a:ext uri="{FF2B5EF4-FFF2-40B4-BE49-F238E27FC236}">
                <a16:creationId xmlns:a16="http://schemas.microsoft.com/office/drawing/2014/main" id="{EF1A154A-4403-4C93-8294-E1C2C97F341F}"/>
              </a:ext>
            </a:extLst>
          </p:cNvPr>
          <p:cNvSpPr>
            <a:spLocks xmlns:a="http://schemas.openxmlformats.org/drawingml/2006/main" noGrp="1"/>
          </p:cNvSpPr>
          <p:nvPr/>
        </p:nvSpPr>
        <p:spPr>
          <a:xfrm xmlns:a="http://schemas.openxmlformats.org/drawingml/2006/main">
            <a:off x="762000" y="2809875"/>
            <a:ext cx="53340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Enable it, enter an interval or cron expression, choose the workflow, and supply the scheduled prompt.</a:t>
            </a:r>
          </a:p>
        </p:txBody>
      </p:sp>
      <p:sp>
        <p:nvSpPr>
          <p:cNvPr id="5" name="text-4">
            <a:extLst xmlns:a="http://schemas.openxmlformats.org/drawingml/2006/main">
              <a:ext uri="{FF2B5EF4-FFF2-40B4-BE49-F238E27FC236}">
                <a16:creationId xmlns:a16="http://schemas.microsoft.com/office/drawing/2014/main" id="{23A425B1-D587-4A8C-A258-0E3A8039EB7C}"/>
              </a:ext>
            </a:extLst>
          </p:cNvPr>
          <p:cNvSpPr>
            <a:spLocks xmlns:a="http://schemas.openxmlformats.org/drawingml/2006/main" noGrp="1"/>
          </p:cNvSpPr>
          <p:nvPr/>
        </p:nvSpPr>
        <p:spPr>
          <a:xfrm xmlns:a="http://schemas.openxmlformats.org/drawingml/2006/main">
            <a:off x="762000" y="4857750"/>
            <a:ext cx="5334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After Save agent, check the next scheduled run. The chosen workflow must contain this agent.</a:t>
            </a:r>
          </a:p>
        </p:txBody>
      </p:sp>
      <p:sp>
        <p:nvSpPr>
          <p:cNvPr id="6" name="text-5">
            <a:extLst xmlns:a="http://schemas.openxmlformats.org/drawingml/2006/main">
              <a:ext uri="{FF2B5EF4-FFF2-40B4-BE49-F238E27FC236}">
                <a16:creationId xmlns:a16="http://schemas.microsoft.com/office/drawing/2014/main" id="{89D0AA1D-011A-4343-91B9-1E58D378B0BB}"/>
              </a:ext>
            </a:extLst>
          </p:cNvPr>
          <p:cNvSpPr>
            <a:spLocks xmlns:a="http://schemas.openxmlformats.org/drawingml/2006/main" noGrp="1"/>
          </p:cNvSpPr>
          <p:nvPr/>
        </p:nvSpPr>
        <p:spPr>
          <a:xfrm xmlns:a="http://schemas.openxmlformats.org/drawingml/2006/main">
            <a:off x="762000" y="6591300"/>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A55"/>
                </a:solidFill>
                <a:latin typeface="Helvetica Neue"/>
                <a:ea typeface="Helvetica Neue"/>
                <a:cs typeface="Helvetica Neue"/>
              </a:defRPr>
            </a:pPr>
            <a:r>
              <a:rPr sz="2550" b="1">
                <a:solidFill>
                  <a:srgbClr val="147A55"/>
                </a:solidFill>
                <a:latin typeface="Helvetica Neue"/>
                <a:ea typeface="Helvetica Neue"/>
                <a:cs typeface="Helvetica Neue"/>
              </a:rPr>
              <a:t>Telegram conversation</a:t>
            </a:r>
          </a:p>
        </p:txBody>
      </p:sp>
      <p:sp>
        <p:nvSpPr>
          <p:cNvPr id="7" name="text-6">
            <a:extLst xmlns:a="http://schemas.openxmlformats.org/drawingml/2006/main">
              <a:ext uri="{FF2B5EF4-FFF2-40B4-BE49-F238E27FC236}">
                <a16:creationId xmlns:a16="http://schemas.microsoft.com/office/drawing/2014/main" id="{8D49D9CA-26AA-4C00-959D-7B9C79131B4A}"/>
              </a:ext>
            </a:extLst>
          </p:cNvPr>
          <p:cNvSpPr>
            <a:spLocks xmlns:a="http://schemas.openxmlformats.org/drawingml/2006/main" noGrp="1"/>
          </p:cNvSpPr>
          <p:nvPr/>
        </p:nvSpPr>
        <p:spPr>
          <a:xfrm xmlns:a="http://schemas.openxmlformats.org/drawingml/2006/main">
            <a:off x="762000" y="717232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41F"/>
                </a:solidFill>
                <a:latin typeface="Helvetica Neue"/>
                <a:ea typeface="Helvetica Neue"/>
                <a:cs typeface="Helvetica Neue"/>
              </a:defRPr>
            </a:pPr>
            <a:r>
              <a:rPr sz="2100" b="0">
                <a:solidFill>
                  <a:srgbClr val="18241F"/>
                </a:solidFill>
                <a:latin typeface="Helvetica Neue"/>
                <a:ea typeface="Helvetica Neue"/>
                <a:cs typeface="Helvetica Neue"/>
              </a:rPr>
              <a:t>Enable it on exactly one agent. Setup shows which agent receives messages.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86382596e3947d2"/>
          <a:stretch xmlns:a="http://schemas.openxmlformats.org/drawingml/2006/main"/>
        </p:blipFill>
        <p:spPr>
          <a:xfrm xmlns:a="http://schemas.openxmlformats.org/drawingml/2006/main">
            <a:off x="6667500" y="2650848"/>
            <a:ext cx="7905750" cy="4242353"/>
          </a:xfrm>
          <a:prstGeom xmlns:a="http://schemas.openxmlformats.org/drawingml/2006/main" prst="rect">
            <a:avLst/>
          </a:prstGeom>
        </p:spPr>
      </p:pic>
    </p:spTree>
    <p:extLst>
      <p:ext uri="{BB962C8B-B14F-4D97-AF65-F5344CB8AC3E}">
        <p14:creationId xmlns:p14="http://schemas.microsoft.com/office/powerpoint/2010/main" val="1010882978"/>
      </p:ext>
    </p:extLst>
  </p:cSld>
</p:sld>
</file>

<file path=ppt/slides/slide1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4A7334CC-BC29-4336-8F99-87D49EC06AFC}"/>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Editing a workflow</a:t>
            </a:r>
          </a:p>
        </p:txBody>
      </p:sp>
      <p:sp>
        <p:nvSpPr>
          <p:cNvPr id="2" name="text-1">
            <a:extLst xmlns:a="http://schemas.openxmlformats.org/drawingml/2006/main">
              <a:ext uri="{FF2B5EF4-FFF2-40B4-BE49-F238E27FC236}">
                <a16:creationId xmlns:a16="http://schemas.microsoft.com/office/drawing/2014/main" id="{C2A1DD0E-E370-4174-92D4-4CD4744E3554}"/>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86C60"/>
                </a:solidFill>
                <a:latin typeface="Helvetica Neue"/>
                <a:ea typeface="Helvetica Neue"/>
                <a:cs typeface="Helvetica Neue"/>
              </a:defRPr>
            </a:pPr>
            <a:r>
              <a:rPr sz="2175" b="0">
                <a:solidFill>
                  <a:srgbClr val="586C60"/>
                </a:solidFill>
                <a:latin typeface="Helvetica Neue"/>
                <a:ea typeface="Helvetica Neue"/>
                <a:cs typeface="Helvetica Neue"/>
              </a:rPr>
              <a:t>Workflows: choose “Edit”, change the graph and routes, then “Save workflow”.</a:t>
            </a:r>
          </a:p>
        </p:txBody>
      </p:sp>
      <p:sp>
        <p:nvSpPr>
          <p:cNvPr id="3" name="text-2">
            <a:extLst xmlns:a="http://schemas.openxmlformats.org/drawingml/2006/main">
              <a:ext uri="{FF2B5EF4-FFF2-40B4-BE49-F238E27FC236}">
                <a16:creationId xmlns:a16="http://schemas.microsoft.com/office/drawing/2014/main" id="{F7EE7D6E-240A-4554-8C5A-1342E42D7836}"/>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15</a:t>
            </a:r>
          </a:p>
        </p:txBody>
      </p:sp>
      <p:sp>
        <p:nvSpPr>
          <p:cNvPr id="4" name="text-3">
            <a:extLst xmlns:a="http://schemas.openxmlformats.org/drawingml/2006/main">
              <a:ext uri="{FF2B5EF4-FFF2-40B4-BE49-F238E27FC236}">
                <a16:creationId xmlns:a16="http://schemas.microsoft.com/office/drawing/2014/main" id="{0C73DD01-0AE3-4ECD-A1D8-7FAF900DE7B2}"/>
              </a:ext>
            </a:extLst>
          </p:cNvPr>
          <p:cNvSpPr>
            <a:spLocks xmlns:a="http://schemas.openxmlformats.org/drawingml/2006/main" noGrp="1"/>
          </p:cNvSpPr>
          <p:nvPr/>
        </p:nvSpPr>
        <p:spPr>
          <a:xfrm xmlns:a="http://schemas.openxmlformats.org/drawingml/2006/main">
            <a:off x="762000" y="23050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01</a:t>
            </a:r>
          </a:p>
        </p:txBody>
      </p:sp>
      <p:sp>
        <p:nvSpPr>
          <p:cNvPr id="5" name="text-4">
            <a:extLst xmlns:a="http://schemas.openxmlformats.org/drawingml/2006/main">
              <a:ext uri="{FF2B5EF4-FFF2-40B4-BE49-F238E27FC236}">
                <a16:creationId xmlns:a16="http://schemas.microsoft.com/office/drawing/2014/main" id="{10E146F6-B0B5-468B-80F2-AB25EF8060C4}"/>
              </a:ext>
            </a:extLst>
          </p:cNvPr>
          <p:cNvSpPr>
            <a:spLocks xmlns:a="http://schemas.openxmlformats.org/drawingml/2006/main" noGrp="1"/>
          </p:cNvSpPr>
          <p:nvPr/>
        </p:nvSpPr>
        <p:spPr>
          <a:xfrm xmlns:a="http://schemas.openxmlformats.org/drawingml/2006/main">
            <a:off x="1524000" y="2305050"/>
            <a:ext cx="1228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241F"/>
                </a:solidFill>
                <a:latin typeface="Helvetica Neue"/>
                <a:ea typeface="Helvetica Neue"/>
                <a:cs typeface="Helvetica Neue"/>
              </a:defRPr>
            </a:pPr>
            <a:r>
              <a:rPr sz="2400" b="1">
                <a:solidFill>
                  <a:srgbClr val="18241F"/>
                </a:solidFill>
                <a:latin typeface="Helvetica Neue"/>
                <a:ea typeface="Helvetica Neue"/>
                <a:cs typeface="Helvetica Neue"/>
              </a:rPr>
              <a:t>Choose participating agents</a:t>
            </a:r>
          </a:p>
        </p:txBody>
      </p:sp>
      <p:sp>
        <p:nvSpPr>
          <p:cNvPr id="6" name="text-5">
            <a:extLst xmlns:a="http://schemas.openxmlformats.org/drawingml/2006/main">
              <a:ext uri="{FF2B5EF4-FFF2-40B4-BE49-F238E27FC236}">
                <a16:creationId xmlns:a16="http://schemas.microsoft.com/office/drawing/2014/main" id="{C8E836E8-6B0E-4D43-8AFF-132186D33710}"/>
              </a:ext>
            </a:extLst>
          </p:cNvPr>
          <p:cNvSpPr>
            <a:spLocks xmlns:a="http://schemas.openxmlformats.org/drawingml/2006/main" noGrp="1"/>
          </p:cNvSpPr>
          <p:nvPr/>
        </p:nvSpPr>
        <p:spPr>
          <a:xfrm xmlns:a="http://schemas.openxmlformats.org/drawingml/2006/main">
            <a:off x="1524000" y="2857500"/>
            <a:ext cx="1228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86C60"/>
                </a:solidFill>
                <a:latin typeface="Helvetica Neue"/>
                <a:ea typeface="Helvetica Neue"/>
                <a:cs typeface="Helvetica Neue"/>
              </a:defRPr>
            </a:pPr>
            <a:r>
              <a:rPr sz="2025" b="0">
                <a:solidFill>
                  <a:srgbClr val="586C60"/>
                </a:solidFill>
                <a:latin typeface="Helvetica Neue"/>
                <a:ea typeface="Helvetica Neue"/>
                <a:cs typeface="Helvetica Neue"/>
              </a:rPr>
              <a:t>Click an agent to add a node. Drag nodes to arrange them. Set the Entry node.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f3b7d7e73664d63"/>
          <a:stretch xmlns:a="http://schemas.openxmlformats.org/drawingml/2006/main"/>
        </p:blipFill>
        <p:spPr>
          <a:xfrm xmlns:a="http://schemas.openxmlformats.org/drawingml/2006/main">
            <a:off x="1251180" y="3981450"/>
            <a:ext cx="12737639" cy="2171700"/>
          </a:xfrm>
          <a:prstGeom xmlns:a="http://schemas.openxmlformats.org/drawingml/2006/main" prst="rect">
            <a:avLst/>
          </a:prstGeom>
        </p:spPr>
      </p:pic>
      <p:sp>
        <p:nvSpPr>
          <p:cNvPr id="8" name="text-6">
            <a:extLst xmlns:a="http://schemas.openxmlformats.org/drawingml/2006/main">
              <a:ext uri="{FF2B5EF4-FFF2-40B4-BE49-F238E27FC236}">
                <a16:creationId xmlns:a16="http://schemas.microsoft.com/office/drawing/2014/main" id="{72225569-0FBD-453E-907C-6DD34B5ED1CA}"/>
              </a:ext>
            </a:extLst>
          </p:cNvPr>
          <p:cNvSpPr>
            <a:spLocks xmlns:a="http://schemas.openxmlformats.org/drawingml/2006/main" noGrp="1"/>
          </p:cNvSpPr>
          <p:nvPr/>
        </p:nvSpPr>
        <p:spPr>
          <a:xfrm xmlns:a="http://schemas.openxmlformats.org/drawingml/2006/main">
            <a:off x="781050" y="6562725"/>
            <a:ext cx="633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Outcome routes</a:t>
            </a:r>
          </a:p>
        </p:txBody>
      </p:sp>
      <p:sp>
        <p:nvSpPr>
          <p:cNvPr id="9" name="text-7">
            <a:extLst xmlns:a="http://schemas.openxmlformats.org/drawingml/2006/main">
              <a:ext uri="{FF2B5EF4-FFF2-40B4-BE49-F238E27FC236}">
                <a16:creationId xmlns:a16="http://schemas.microsoft.com/office/drawing/2014/main" id="{CE4D7B63-B7F1-4D11-91EF-B9DA388F34C1}"/>
              </a:ext>
            </a:extLst>
          </p:cNvPr>
          <p:cNvSpPr>
            <a:spLocks xmlns:a="http://schemas.openxmlformats.org/drawingml/2006/main" noGrp="1"/>
          </p:cNvSpPr>
          <p:nvPr/>
        </p:nvSpPr>
        <p:spPr>
          <a:xfrm xmlns:a="http://schemas.openxmlformats.org/drawingml/2006/main">
            <a:off x="781050" y="7115175"/>
            <a:ext cx="6334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41F"/>
                </a:solidFill>
                <a:latin typeface="Helvetica Neue"/>
                <a:ea typeface="Helvetica Neue"/>
                <a:cs typeface="Helvetica Neue"/>
              </a:defRPr>
            </a:pPr>
            <a:r>
              <a:rPr sz="2100" b="0">
                <a:solidFill>
                  <a:srgbClr val="18241F"/>
                </a:solidFill>
                <a:latin typeface="Helvetica Neue"/>
                <a:ea typeface="Helvetica Neue"/>
                <a:cs typeface="Helvetica Neue"/>
              </a:rPr>
              <a:t>Match the outcome your agent returns. A backward route creates a feedback loop.</a:t>
            </a:r>
          </a:p>
        </p:txBody>
      </p:sp>
      <p:sp>
        <p:nvSpPr>
          <p:cNvPr id="10" name="text-8">
            <a:extLst xmlns:a="http://schemas.openxmlformats.org/drawingml/2006/main">
              <a:ext uri="{FF2B5EF4-FFF2-40B4-BE49-F238E27FC236}">
                <a16:creationId xmlns:a16="http://schemas.microsoft.com/office/drawing/2014/main" id="{6F0B1785-155D-4786-9ACE-4EBC043878E3}"/>
              </a:ext>
            </a:extLst>
          </p:cNvPr>
          <p:cNvSpPr>
            <a:spLocks xmlns:a="http://schemas.openxmlformats.org/drawingml/2006/main" noGrp="1"/>
          </p:cNvSpPr>
          <p:nvPr/>
        </p:nvSpPr>
        <p:spPr>
          <a:xfrm xmlns:a="http://schemas.openxmlformats.org/drawingml/2006/main">
            <a:off x="8096250" y="6562725"/>
            <a:ext cx="623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47A55"/>
                </a:solidFill>
                <a:latin typeface="Helvetica Neue"/>
                <a:ea typeface="Helvetica Neue"/>
                <a:cs typeface="Helvetica Neue"/>
              </a:defRPr>
            </a:pPr>
            <a:r>
              <a:rPr sz="2400" b="1">
                <a:solidFill>
                  <a:srgbClr val="147A55"/>
                </a:solidFill>
                <a:latin typeface="Helvetica Neue"/>
                <a:ea typeface="Helvetica Neue"/>
                <a:cs typeface="Helvetica Neue"/>
              </a:rPr>
              <a:t>Terminal outcomes</a:t>
            </a:r>
          </a:p>
        </p:txBody>
      </p:sp>
      <p:sp>
        <p:nvSpPr>
          <p:cNvPr id="11" name="text-9">
            <a:extLst xmlns:a="http://schemas.openxmlformats.org/drawingml/2006/main">
              <a:ext uri="{FF2B5EF4-FFF2-40B4-BE49-F238E27FC236}">
                <a16:creationId xmlns:a16="http://schemas.microsoft.com/office/drawing/2014/main" id="{91BEDF3E-FB02-483A-A06C-A1B9E19EC930}"/>
              </a:ext>
            </a:extLst>
          </p:cNvPr>
          <p:cNvSpPr>
            <a:spLocks xmlns:a="http://schemas.openxmlformats.org/drawingml/2006/main" noGrp="1"/>
          </p:cNvSpPr>
          <p:nvPr/>
        </p:nvSpPr>
        <p:spPr>
          <a:xfrm xmlns:a="http://schemas.openxmlformats.org/drawingml/2006/main">
            <a:off x="8096250" y="7115175"/>
            <a:ext cx="6238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41F"/>
                </a:solidFill>
                <a:latin typeface="Helvetica Neue"/>
                <a:ea typeface="Helvetica Neue"/>
                <a:cs typeface="Helvetica Neue"/>
              </a:defRPr>
            </a:pPr>
            <a:r>
              <a:rPr sz="2100" b="0">
                <a:solidFill>
                  <a:srgbClr val="18241F"/>
                </a:solidFill>
                <a:latin typeface="Helvetica Neue"/>
                <a:ea typeface="Helvetica Neue"/>
                <a:cs typeface="Helvetica Neue"/>
              </a:rPr>
              <a:t>Click a node and enter outcomes that end the graph, such as approved.</a:t>
            </a:r>
          </a:p>
        </p:txBody>
      </p:sp>
    </p:spTree>
    <p:extLst>
      <p:ext uri="{BB962C8B-B14F-4D97-AF65-F5344CB8AC3E}">
        <p14:creationId xmlns:p14="http://schemas.microsoft.com/office/powerpoint/2010/main" val="217879493"/>
      </p:ext>
    </p:extLst>
  </p:cSld>
</p:sld>
</file>

<file path=ppt/slides/slide1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24B356B3-FA6D-4843-81F3-E8F047992198}"/>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When a run needs attention</a:t>
            </a:r>
          </a:p>
        </p:txBody>
      </p:sp>
      <p:sp>
        <p:nvSpPr>
          <p:cNvPr id="2" name="text-1">
            <a:extLst xmlns:a="http://schemas.openxmlformats.org/drawingml/2006/main">
              <a:ext uri="{FF2B5EF4-FFF2-40B4-BE49-F238E27FC236}">
                <a16:creationId xmlns:a16="http://schemas.microsoft.com/office/drawing/2014/main" id="{B4034A51-88C0-4628-93F0-CE66DE8C1BF6}"/>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16</a:t>
            </a:r>
          </a:p>
        </p:txBody>
      </p:sp>
      <p:sp>
        <p:nvSpPr>
          <p:cNvPr id="3" name="text-2">
            <a:extLst xmlns:a="http://schemas.openxmlformats.org/drawingml/2006/main">
              <a:ext uri="{FF2B5EF4-FFF2-40B4-BE49-F238E27FC236}">
                <a16:creationId xmlns:a16="http://schemas.microsoft.com/office/drawing/2014/main" id="{5FAAA048-9860-4777-973A-289325B83BC7}"/>
              </a:ext>
            </a:extLst>
          </p:cNvPr>
          <p:cNvSpPr>
            <a:spLocks xmlns:a="http://schemas.openxmlformats.org/drawingml/2006/main" noGrp="1"/>
          </p:cNvSpPr>
          <p:nvPr/>
        </p:nvSpPr>
        <p:spPr>
          <a:xfrm xmlns:a="http://schemas.openxmlformats.org/drawingml/2006/main">
            <a:off x="781050" y="220027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7A55"/>
                </a:solidFill>
                <a:latin typeface="Helvetica Neue"/>
                <a:ea typeface="Helvetica Neue"/>
                <a:cs typeface="Helvetica Neue"/>
              </a:defRPr>
            </a:pPr>
            <a:r>
              <a:rPr sz="2475" b="1">
                <a:solidFill>
                  <a:srgbClr val="147A55"/>
                </a:solidFill>
                <a:latin typeface="Helvetica Neue"/>
                <a:ea typeface="Helvetica Neue"/>
                <a:cs typeface="Helvetica Neue"/>
              </a:rPr>
              <a:t>Awaiting approval</a:t>
            </a:r>
          </a:p>
        </p:txBody>
      </p:sp>
      <p:sp>
        <p:nvSpPr>
          <p:cNvPr id="4" name="text-3">
            <a:extLst xmlns:a="http://schemas.openxmlformats.org/drawingml/2006/main">
              <a:ext uri="{FF2B5EF4-FFF2-40B4-BE49-F238E27FC236}">
                <a16:creationId xmlns:a16="http://schemas.microsoft.com/office/drawing/2014/main" id="{55931E70-1583-456E-8572-9474E6BB1C78}"/>
              </a:ext>
            </a:extLst>
          </p:cNvPr>
          <p:cNvSpPr>
            <a:spLocks xmlns:a="http://schemas.openxmlformats.org/drawingml/2006/main" noGrp="1"/>
          </p:cNvSpPr>
          <p:nvPr/>
        </p:nvSpPr>
        <p:spPr>
          <a:xfrm xmlns:a="http://schemas.openxmlformats.org/drawingml/2006/main">
            <a:off x="5248275" y="2200275"/>
            <a:ext cx="914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Open the decision area. Inspect the revision or allow the next turn.</a:t>
            </a:r>
          </a:p>
        </p:txBody>
      </p:sp>
      <p:sp>
        <p:nvSpPr>
          <p:cNvPr id="5" name="text-4">
            <a:extLst xmlns:a="http://schemas.openxmlformats.org/drawingml/2006/main">
              <a:ext uri="{FF2B5EF4-FFF2-40B4-BE49-F238E27FC236}">
                <a16:creationId xmlns:a16="http://schemas.microsoft.com/office/drawing/2014/main" id="{2743E1E4-ED42-400F-AE27-9626C45CA876}"/>
              </a:ext>
            </a:extLst>
          </p:cNvPr>
          <p:cNvSpPr>
            <a:spLocks xmlns:a="http://schemas.openxmlformats.org/drawingml/2006/main" noGrp="1"/>
          </p:cNvSpPr>
          <p:nvPr/>
        </p:nvSpPr>
        <p:spPr>
          <a:xfrm xmlns:a="http://schemas.openxmlformats.org/drawingml/2006/main">
            <a:off x="781050" y="3524250"/>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7A55"/>
                </a:solidFill>
                <a:latin typeface="Helvetica Neue"/>
                <a:ea typeface="Helvetica Neue"/>
                <a:cs typeface="Helvetica Neue"/>
              </a:defRPr>
            </a:pPr>
            <a:r>
              <a:rPr sz="2475" b="1">
                <a:solidFill>
                  <a:srgbClr val="147A55"/>
                </a:solidFill>
                <a:latin typeface="Helvetica Neue"/>
                <a:ea typeface="Helvetica Neue"/>
                <a:cs typeface="Helvetica Neue"/>
              </a:rPr>
              <a:t>Failed</a:t>
            </a:r>
          </a:p>
        </p:txBody>
      </p:sp>
      <p:sp>
        <p:nvSpPr>
          <p:cNvPr id="6" name="text-5">
            <a:extLst xmlns:a="http://schemas.openxmlformats.org/drawingml/2006/main">
              <a:ext uri="{FF2B5EF4-FFF2-40B4-BE49-F238E27FC236}">
                <a16:creationId xmlns:a16="http://schemas.microsoft.com/office/drawing/2014/main" id="{3344029E-821C-43C6-8EFB-17A1D5E9557E}"/>
              </a:ext>
            </a:extLst>
          </p:cNvPr>
          <p:cNvSpPr>
            <a:spLocks xmlns:a="http://schemas.openxmlformats.org/drawingml/2006/main" noGrp="1"/>
          </p:cNvSpPr>
          <p:nvPr/>
        </p:nvSpPr>
        <p:spPr>
          <a:xfrm xmlns:a="http://schemas.openxmlformats.org/drawingml/2006/main">
            <a:off x="5248275" y="3524250"/>
            <a:ext cx="914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Read “Run stopped” and the trail. Resolve the cause before using Resume.</a:t>
            </a:r>
          </a:p>
        </p:txBody>
      </p:sp>
      <p:sp>
        <p:nvSpPr>
          <p:cNvPr id="7" name="text-6">
            <a:extLst xmlns:a="http://schemas.openxmlformats.org/drawingml/2006/main">
              <a:ext uri="{FF2B5EF4-FFF2-40B4-BE49-F238E27FC236}">
                <a16:creationId xmlns:a16="http://schemas.microsoft.com/office/drawing/2014/main" id="{3B409036-7E77-4066-B709-C07A23E492B4}"/>
              </a:ext>
            </a:extLst>
          </p:cNvPr>
          <p:cNvSpPr>
            <a:spLocks xmlns:a="http://schemas.openxmlformats.org/drawingml/2006/main" noGrp="1"/>
          </p:cNvSpPr>
          <p:nvPr/>
        </p:nvSpPr>
        <p:spPr>
          <a:xfrm xmlns:a="http://schemas.openxmlformats.org/drawingml/2006/main">
            <a:off x="781050" y="4848225"/>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7A55"/>
                </a:solidFill>
                <a:latin typeface="Helvetica Neue"/>
                <a:ea typeface="Helvetica Neue"/>
                <a:cs typeface="Helvetica Neue"/>
              </a:defRPr>
            </a:pPr>
            <a:r>
              <a:rPr sz="2475" b="1">
                <a:solidFill>
                  <a:srgbClr val="147A55"/>
                </a:solidFill>
                <a:latin typeface="Helvetica Neue"/>
                <a:ea typeface="Helvetica Neue"/>
                <a:cs typeface="Helvetica Neue"/>
              </a:rPr>
              <a:t>Unknown provider cost</a:t>
            </a:r>
          </a:p>
        </p:txBody>
      </p:sp>
      <p:sp>
        <p:nvSpPr>
          <p:cNvPr id="8" name="text-7">
            <a:extLst xmlns:a="http://schemas.openxmlformats.org/drawingml/2006/main">
              <a:ext uri="{FF2B5EF4-FFF2-40B4-BE49-F238E27FC236}">
                <a16:creationId xmlns:a16="http://schemas.microsoft.com/office/drawing/2014/main" id="{7B199465-0971-4BF8-904B-2A69F461CF74}"/>
              </a:ext>
            </a:extLst>
          </p:cNvPr>
          <p:cNvSpPr>
            <a:spLocks xmlns:a="http://schemas.openxmlformats.org/drawingml/2006/main" noGrp="1"/>
          </p:cNvSpPr>
          <p:nvPr/>
        </p:nvSpPr>
        <p:spPr>
          <a:xfrm xmlns:a="http://schemas.openxmlformats.org/drawingml/2006/main">
            <a:off x="5248275" y="4848225"/>
            <a:ext cx="914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Use “Reconcile provider usage” with the provider’s actual record.</a:t>
            </a:r>
          </a:p>
        </p:txBody>
      </p:sp>
      <p:sp>
        <p:nvSpPr>
          <p:cNvPr id="9" name="text-8">
            <a:extLst xmlns:a="http://schemas.openxmlformats.org/drawingml/2006/main">
              <a:ext uri="{FF2B5EF4-FFF2-40B4-BE49-F238E27FC236}">
                <a16:creationId xmlns:a16="http://schemas.microsoft.com/office/drawing/2014/main" id="{ED9A63D5-D900-4AC6-8B08-601671FB4AC3}"/>
              </a:ext>
            </a:extLst>
          </p:cNvPr>
          <p:cNvSpPr>
            <a:spLocks xmlns:a="http://schemas.openxmlformats.org/drawingml/2006/main" noGrp="1"/>
          </p:cNvSpPr>
          <p:nvPr/>
        </p:nvSpPr>
        <p:spPr>
          <a:xfrm xmlns:a="http://schemas.openxmlformats.org/drawingml/2006/main">
            <a:off x="781050" y="6172200"/>
            <a:ext cx="395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47A55"/>
                </a:solidFill>
                <a:latin typeface="Helvetica Neue"/>
                <a:ea typeface="Helvetica Neue"/>
                <a:cs typeface="Helvetica Neue"/>
              </a:defRPr>
            </a:pPr>
            <a:r>
              <a:rPr sz="2475" b="1">
                <a:solidFill>
                  <a:srgbClr val="147A55"/>
                </a:solidFill>
                <a:latin typeface="Helvetica Neue"/>
                <a:ea typeface="Helvetica Neue"/>
                <a:cs typeface="Helvetica Neue"/>
              </a:rPr>
              <a:t>Work should stop</a:t>
            </a:r>
          </a:p>
        </p:txBody>
      </p:sp>
      <p:sp>
        <p:nvSpPr>
          <p:cNvPr id="10" name="text-9">
            <a:extLst xmlns:a="http://schemas.openxmlformats.org/drawingml/2006/main">
              <a:ext uri="{FF2B5EF4-FFF2-40B4-BE49-F238E27FC236}">
                <a16:creationId xmlns:a16="http://schemas.microsoft.com/office/drawing/2014/main" id="{ECC06BCC-1AC9-45D3-AE52-F33643A28DDD}"/>
              </a:ext>
            </a:extLst>
          </p:cNvPr>
          <p:cNvSpPr>
            <a:spLocks xmlns:a="http://schemas.openxmlformats.org/drawingml/2006/main" noGrp="1"/>
          </p:cNvSpPr>
          <p:nvPr/>
        </p:nvSpPr>
        <p:spPr>
          <a:xfrm xmlns:a="http://schemas.openxmlformats.org/drawingml/2006/main">
            <a:off x="5248275" y="6172200"/>
            <a:ext cx="914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241F"/>
                </a:solidFill>
                <a:latin typeface="Helvetica Neue"/>
                <a:ea typeface="Helvetica Neue"/>
                <a:cs typeface="Helvetica Neue"/>
              </a:defRPr>
            </a:pPr>
            <a:r>
              <a:rPr sz="2325" b="0">
                <a:solidFill>
                  <a:srgbClr val="18241F"/>
                </a:solidFill>
                <a:latin typeface="Helvetica Neue"/>
                <a:ea typeface="Helvetica Neue"/>
                <a:cs typeface="Helvetica Neue"/>
              </a:rPr>
              <a:t>Click Cancel on the active run. Inspect retained work and reported usage.</a:t>
            </a:r>
          </a:p>
        </p:txBody>
      </p:sp>
      <p:sp>
        <p:nvSpPr>
          <p:cNvPr id="11" name="text-10">
            <a:extLst xmlns:a="http://schemas.openxmlformats.org/drawingml/2006/main">
              <a:ext uri="{FF2B5EF4-FFF2-40B4-BE49-F238E27FC236}">
                <a16:creationId xmlns:a16="http://schemas.microsoft.com/office/drawing/2014/main" id="{939B508B-1EEF-4727-8BE1-8EB6586142D7}"/>
              </a:ext>
            </a:extLst>
          </p:cNvPr>
          <p:cNvSpPr>
            <a:spLocks xmlns:a="http://schemas.openxmlformats.org/drawingml/2006/main" noGrp="1"/>
          </p:cNvSpPr>
          <p:nvPr/>
        </p:nvSpPr>
        <p:spPr>
          <a:xfrm xmlns:a="http://schemas.openxmlformats.org/drawingml/2006/main">
            <a:off x="781050" y="7696200"/>
            <a:ext cx="1357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C60"/>
                </a:solidFill>
                <a:latin typeface="Helvetica Neue"/>
                <a:ea typeface="Helvetica Neue"/>
                <a:cs typeface="Helvetica Neue"/>
              </a:defRPr>
            </a:pPr>
            <a:r>
              <a:rPr sz="1875" b="0">
                <a:solidFill>
                  <a:srgbClr val="586C60"/>
                </a:solidFill>
                <a:latin typeface="Helvetica Neue"/>
                <a:ea typeface="Helvetica Neue"/>
                <a:cs typeface="Helvetica Neue"/>
              </a:rPr>
              <a:t>Resume keeps the saved setup. Start a new run when you need different agent or workflow settings.</a:t>
            </a:r>
          </a:p>
        </p:txBody>
      </p:sp>
    </p:spTree>
    <p:extLst>
      <p:ext uri="{BB962C8B-B14F-4D97-AF65-F5344CB8AC3E}">
        <p14:creationId xmlns:p14="http://schemas.microsoft.com/office/powerpoint/2010/main" val="1102627032"/>
      </p:ext>
    </p:extLst>
  </p:cSld>
</p:sld>
</file>

<file path=ppt/slides/slide17.xml><?xml version="1.0" encoding="utf-8"?>
<p:sld xmlns:p="http://schemas.openxmlformats.org/presentationml/2006/main">
  <p:cSld>
    <p:bg>
      <p:bgPr>
        <a:solidFill xmlns:a="http://schemas.openxmlformats.org/drawingml/2006/main">
          <a:srgbClr val="0C1714"/>
        </a:solidFill>
      </p:bgPr>
    </p:bg>
    <p:spTree>
      <p:nvGrpSpPr>
        <p:cNvPr id="1" name=""/>
        <p:cNvGrpSpPr/>
        <p:nvPr/>
      </p:nvGrpSpPr>
      <p:grpSpPr>
        <a:xfrm xmlns:a="http://schemas.openxmlformats.org/drawingml/2006/main"/>
      </p:grpSpPr>
      <p:sp>
        <p:nvSpPr>
          <p:cNvPr id="22" name="text-0">
            <a:extLst xmlns:a="http://schemas.openxmlformats.org/drawingml/2006/main">
              <a:ext uri="{FF2B5EF4-FFF2-40B4-BE49-F238E27FC236}">
                <a16:creationId xmlns:a16="http://schemas.microsoft.com/office/drawing/2014/main" id="{156C3B7F-430A-4F63-B32A-A59A03635E76}"/>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A complete first exercise</a:t>
            </a:r>
          </a:p>
        </p:txBody>
      </p:sp>
      <p:sp>
        <p:nvSpPr>
          <p:cNvPr id="2" name="text-1">
            <a:extLst xmlns:a="http://schemas.openxmlformats.org/drawingml/2006/main">
              <a:ext uri="{FF2B5EF4-FFF2-40B4-BE49-F238E27FC236}">
                <a16:creationId xmlns:a16="http://schemas.microsoft.com/office/drawing/2014/main" id="{8BD5EB9B-5E44-431F-87F8-E53BC76B6FF8}"/>
              </a:ext>
            </a:extLst>
          </p:cNvPr>
          <p:cNvSpPr>
            <a:spLocks xmlns:a="http://schemas.openxmlformats.org/drawingml/2006/main" noGrp="1"/>
          </p:cNvSpPr>
          <p:nvPr/>
        </p:nvSpPr>
        <p:spPr>
          <a:xfrm xmlns:a="http://schemas.openxmlformats.org/drawingml/2006/main">
            <a:off x="762000" y="1438275"/>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72D6A8"/>
                </a:solidFill>
                <a:latin typeface="Helvetica Neue"/>
                <a:ea typeface="Helvetica Neue"/>
                <a:cs typeface="Helvetica Neue"/>
              </a:defRPr>
            </a:pPr>
            <a:r>
              <a:rPr sz="2175" b="0">
                <a:solidFill>
                  <a:srgbClr val="72D6A8"/>
                </a:solidFill>
                <a:latin typeface="Helvetica Neue"/>
                <a:ea typeface="Helvetica Neue"/>
                <a:cs typeface="Helvetica Neue"/>
              </a:rPr>
              <a:t>A working app and a checked improvement are the finish line.</a:t>
            </a:r>
          </a:p>
        </p:txBody>
      </p:sp>
      <p:sp>
        <p:nvSpPr>
          <p:cNvPr id="3" name="text-2">
            <a:extLst xmlns:a="http://schemas.openxmlformats.org/drawingml/2006/main">
              <a:ext uri="{FF2B5EF4-FFF2-40B4-BE49-F238E27FC236}">
                <a16:creationId xmlns:a16="http://schemas.microsoft.com/office/drawing/2014/main" id="{85D8F6DE-7C14-4559-BD27-9023A70CFE71}"/>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2D6A8"/>
                </a:solidFill>
                <a:latin typeface="Helvetica Neue"/>
                <a:ea typeface="Helvetica Neue"/>
                <a:cs typeface="Helvetica Neue"/>
              </a:defRPr>
            </a:pPr>
            <a:r>
              <a:rPr sz="1350" b="0">
                <a:solidFill>
                  <a:srgbClr val="72D6A8"/>
                </a:solidFill>
                <a:latin typeface="Helvetica Neue"/>
                <a:ea typeface="Helvetica Neue"/>
                <a:cs typeface="Helvetica Neue"/>
              </a:rPr>
              <a:t>17</a:t>
            </a:r>
          </a:p>
        </p:txBody>
      </p:sp>
      <p:sp>
        <p:nvSpPr>
          <p:cNvPr id="4" name="text-3">
            <a:extLst xmlns:a="http://schemas.openxmlformats.org/drawingml/2006/main">
              <a:ext uri="{FF2B5EF4-FFF2-40B4-BE49-F238E27FC236}">
                <a16:creationId xmlns:a16="http://schemas.microsoft.com/office/drawing/2014/main" id="{DD6C5923-BBD7-409F-A27C-EFEF89901155}"/>
              </a:ext>
            </a:extLst>
          </p:cNvPr>
          <p:cNvSpPr>
            <a:spLocks xmlns:a="http://schemas.openxmlformats.org/drawingml/2006/main" noGrp="1"/>
          </p:cNvSpPr>
          <p:nvPr/>
        </p:nvSpPr>
        <p:spPr>
          <a:xfrm xmlns:a="http://schemas.openxmlformats.org/drawingml/2006/main">
            <a:off x="762000" y="23717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2D6A8"/>
                </a:solidFill>
                <a:latin typeface="Helvetica Neue"/>
                <a:ea typeface="Helvetica Neue"/>
                <a:cs typeface="Helvetica Neue"/>
              </a:defRPr>
            </a:pPr>
            <a:r>
              <a:rPr sz="2400" b="1">
                <a:solidFill>
                  <a:srgbClr val="72D6A8"/>
                </a:solidFill>
                <a:latin typeface="Helvetica Neue"/>
                <a:ea typeface="Helvetica Neue"/>
                <a:cs typeface="Helvetica Neue"/>
              </a:rPr>
              <a:t>01</a:t>
            </a:r>
          </a:p>
        </p:txBody>
      </p:sp>
      <p:sp>
        <p:nvSpPr>
          <p:cNvPr id="5" name="text-4">
            <a:extLst xmlns:a="http://schemas.openxmlformats.org/drawingml/2006/main">
              <a:ext uri="{FF2B5EF4-FFF2-40B4-BE49-F238E27FC236}">
                <a16:creationId xmlns:a16="http://schemas.microsoft.com/office/drawing/2014/main" id="{6423CCD4-502B-4ADC-A87D-BA7601AACEE3}"/>
              </a:ext>
            </a:extLst>
          </p:cNvPr>
          <p:cNvSpPr>
            <a:spLocks xmlns:a="http://schemas.openxmlformats.org/drawingml/2006/main" noGrp="1"/>
          </p:cNvSpPr>
          <p:nvPr/>
        </p:nvSpPr>
        <p:spPr>
          <a:xfrm xmlns:a="http://schemas.openxmlformats.org/drawingml/2006/main">
            <a:off x="1524000" y="23717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Build the checklist</a:t>
            </a:r>
          </a:p>
        </p:txBody>
      </p:sp>
      <p:sp>
        <p:nvSpPr>
          <p:cNvPr id="6" name="text-5">
            <a:extLst xmlns:a="http://schemas.openxmlformats.org/drawingml/2006/main">
              <a:ext uri="{FF2B5EF4-FFF2-40B4-BE49-F238E27FC236}">
                <a16:creationId xmlns:a16="http://schemas.microsoft.com/office/drawing/2014/main" id="{C1BD0F5F-CDA9-430A-B4C3-5D6A9321FDA9}"/>
              </a:ext>
            </a:extLst>
          </p:cNvPr>
          <p:cNvSpPr>
            <a:spLocks xmlns:a="http://schemas.openxmlformats.org/drawingml/2006/main" noGrp="1"/>
          </p:cNvSpPr>
          <p:nvPr/>
        </p:nvSpPr>
        <p:spPr>
          <a:xfrm xmlns:a="http://schemas.openxmlformats.org/drawingml/2006/main">
            <a:off x="1524000" y="2924175"/>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BD1"/>
                </a:solidFill>
                <a:latin typeface="Helvetica Neue"/>
                <a:ea typeface="Helvetica Neue"/>
                <a:cs typeface="Helvetica Neue"/>
              </a:defRPr>
            </a:pPr>
            <a:r>
              <a:rPr sz="2025" b="0">
                <a:solidFill>
                  <a:srgbClr val="CBDBD1"/>
                </a:solidFill>
                <a:latin typeface="Helvetica Neue"/>
                <a:ea typeface="Helvetica Neue"/>
                <a:cs typeface="Helvetica Neue"/>
              </a:rPr>
              <a:t>Use the example request in Overview.</a:t>
            </a:r>
          </a:p>
        </p:txBody>
      </p:sp>
      <p:sp>
        <p:nvSpPr>
          <p:cNvPr id="7" name="text-6">
            <a:extLst xmlns:a="http://schemas.openxmlformats.org/drawingml/2006/main">
              <a:ext uri="{FF2B5EF4-FFF2-40B4-BE49-F238E27FC236}">
                <a16:creationId xmlns:a16="http://schemas.microsoft.com/office/drawing/2014/main" id="{2673F2CE-9589-4CA6-8AB1-0A682A7DF7B3}"/>
              </a:ext>
            </a:extLst>
          </p:cNvPr>
          <p:cNvSpPr>
            <a:spLocks xmlns:a="http://schemas.openxmlformats.org/drawingml/2006/main" noGrp="1"/>
          </p:cNvSpPr>
          <p:nvPr/>
        </p:nvSpPr>
        <p:spPr>
          <a:xfrm xmlns:a="http://schemas.openxmlformats.org/drawingml/2006/main">
            <a:off x="762000" y="4152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2D6A8"/>
                </a:solidFill>
                <a:latin typeface="Helvetica Neue"/>
                <a:ea typeface="Helvetica Neue"/>
                <a:cs typeface="Helvetica Neue"/>
              </a:defRPr>
            </a:pPr>
            <a:r>
              <a:rPr sz="2400" b="1">
                <a:solidFill>
                  <a:srgbClr val="72D6A8"/>
                </a:solidFill>
                <a:latin typeface="Helvetica Neue"/>
                <a:ea typeface="Helvetica Neue"/>
                <a:cs typeface="Helvetica Neue"/>
              </a:rPr>
              <a:t>02</a:t>
            </a:r>
          </a:p>
        </p:txBody>
      </p:sp>
      <p:sp>
        <p:nvSpPr>
          <p:cNvPr id="8" name="text-7">
            <a:extLst xmlns:a="http://schemas.openxmlformats.org/drawingml/2006/main">
              <a:ext uri="{FF2B5EF4-FFF2-40B4-BE49-F238E27FC236}">
                <a16:creationId xmlns:a16="http://schemas.microsoft.com/office/drawing/2014/main" id="{5CE95BC6-7ECE-4F32-8651-C570087266CC}"/>
              </a:ext>
            </a:extLst>
          </p:cNvPr>
          <p:cNvSpPr>
            <a:spLocks xmlns:a="http://schemas.openxmlformats.org/drawingml/2006/main" noGrp="1"/>
          </p:cNvSpPr>
          <p:nvPr/>
        </p:nvSpPr>
        <p:spPr>
          <a:xfrm xmlns:a="http://schemas.openxmlformats.org/drawingml/2006/main">
            <a:off x="1524000" y="4152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Inspect the handoff</a:t>
            </a:r>
          </a:p>
        </p:txBody>
      </p:sp>
      <p:sp>
        <p:nvSpPr>
          <p:cNvPr id="9" name="text-8">
            <a:extLst xmlns:a="http://schemas.openxmlformats.org/drawingml/2006/main">
              <a:ext uri="{FF2B5EF4-FFF2-40B4-BE49-F238E27FC236}">
                <a16:creationId xmlns:a16="http://schemas.microsoft.com/office/drawing/2014/main" id="{7D206C57-BB5D-4495-B826-69EB4D584504}"/>
              </a:ext>
            </a:extLst>
          </p:cNvPr>
          <p:cNvSpPr>
            <a:spLocks xmlns:a="http://schemas.openxmlformats.org/drawingml/2006/main" noGrp="1"/>
          </p:cNvSpPr>
          <p:nvPr/>
        </p:nvSpPr>
        <p:spPr>
          <a:xfrm xmlns:a="http://schemas.openxmlformats.org/drawingml/2006/main">
            <a:off x="1524000" y="4705350"/>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BD1"/>
                </a:solidFill>
                <a:latin typeface="Helvetica Neue"/>
                <a:ea typeface="Helvetica Neue"/>
                <a:cs typeface="Helvetica Neue"/>
              </a:defRPr>
            </a:pPr>
            <a:r>
              <a:rPr sz="2025" b="0">
                <a:solidFill>
                  <a:srgbClr val="CBDBD1"/>
                </a:solidFill>
                <a:latin typeface="Helvetica Neue"/>
                <a:ea typeface="Helvetica Neue"/>
                <a:cs typeface="Helvetica Neue"/>
              </a:rPr>
              <a:t>Read the build and review messages in Runs.</a:t>
            </a:r>
          </a:p>
        </p:txBody>
      </p:sp>
      <p:sp>
        <p:nvSpPr>
          <p:cNvPr id="10" name="text-9">
            <a:extLst xmlns:a="http://schemas.openxmlformats.org/drawingml/2006/main">
              <a:ext uri="{FF2B5EF4-FFF2-40B4-BE49-F238E27FC236}">
                <a16:creationId xmlns:a16="http://schemas.microsoft.com/office/drawing/2014/main" id="{70D8F3E6-4E4C-4F54-8941-B2DC5D57AF37}"/>
              </a:ext>
            </a:extLst>
          </p:cNvPr>
          <p:cNvSpPr>
            <a:spLocks xmlns:a="http://schemas.openxmlformats.org/drawingml/2006/main" noGrp="1"/>
          </p:cNvSpPr>
          <p:nvPr/>
        </p:nvSpPr>
        <p:spPr>
          <a:xfrm xmlns:a="http://schemas.openxmlformats.org/drawingml/2006/main">
            <a:off x="762000" y="5934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2D6A8"/>
                </a:solidFill>
                <a:latin typeface="Helvetica Neue"/>
                <a:ea typeface="Helvetica Neue"/>
                <a:cs typeface="Helvetica Neue"/>
              </a:defRPr>
            </a:pPr>
            <a:r>
              <a:rPr sz="2400" b="1">
                <a:solidFill>
                  <a:srgbClr val="72D6A8"/>
                </a:solidFill>
                <a:latin typeface="Helvetica Neue"/>
                <a:ea typeface="Helvetica Neue"/>
                <a:cs typeface="Helvetica Neue"/>
              </a:rPr>
              <a:t>03</a:t>
            </a:r>
          </a:p>
        </p:txBody>
      </p:sp>
      <p:sp>
        <p:nvSpPr>
          <p:cNvPr id="11" name="text-10">
            <a:extLst xmlns:a="http://schemas.openxmlformats.org/drawingml/2006/main">
              <a:ext uri="{FF2B5EF4-FFF2-40B4-BE49-F238E27FC236}">
                <a16:creationId xmlns:a16="http://schemas.microsoft.com/office/drawing/2014/main" id="{EF9C86ED-88D0-45C0-BE96-1DA6DE18A7B0}"/>
              </a:ext>
            </a:extLst>
          </p:cNvPr>
          <p:cNvSpPr>
            <a:spLocks xmlns:a="http://schemas.openxmlformats.org/drawingml/2006/main" noGrp="1"/>
          </p:cNvSpPr>
          <p:nvPr/>
        </p:nvSpPr>
        <p:spPr>
          <a:xfrm xmlns:a="http://schemas.openxmlformats.org/drawingml/2006/main">
            <a:off x="1524000" y="593407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Check and approve</a:t>
            </a:r>
          </a:p>
        </p:txBody>
      </p:sp>
      <p:sp>
        <p:nvSpPr>
          <p:cNvPr id="12" name="text-11">
            <a:extLst xmlns:a="http://schemas.openxmlformats.org/drawingml/2006/main">
              <a:ext uri="{FF2B5EF4-FFF2-40B4-BE49-F238E27FC236}">
                <a16:creationId xmlns:a16="http://schemas.microsoft.com/office/drawing/2014/main" id="{7D89A02F-A569-4332-8B21-5EE94E97E566}"/>
              </a:ext>
            </a:extLst>
          </p:cNvPr>
          <p:cNvSpPr>
            <a:spLocks xmlns:a="http://schemas.openxmlformats.org/drawingml/2006/main" noGrp="1"/>
          </p:cNvSpPr>
          <p:nvPr/>
        </p:nvSpPr>
        <p:spPr>
          <a:xfrm xmlns:a="http://schemas.openxmlformats.org/drawingml/2006/main">
            <a:off x="1524000" y="6486525"/>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BD1"/>
                </a:solidFill>
                <a:latin typeface="Helvetica Neue"/>
                <a:ea typeface="Helvetica Neue"/>
                <a:cs typeface="Helvetica Neue"/>
              </a:defRPr>
            </a:pPr>
            <a:r>
              <a:rPr sz="2025" b="0">
                <a:solidFill>
                  <a:srgbClr val="CBDBD1"/>
                </a:solidFill>
                <a:latin typeface="Helvetica Neue"/>
                <a:ea typeface="Helvetica Neue"/>
                <a:cs typeface="Helvetica Neue"/>
              </a:rPr>
              <a:t>Add tasks, reload, and approve the working revision.</a:t>
            </a:r>
          </a:p>
        </p:txBody>
      </p:sp>
      <p:sp>
        <p:nvSpPr>
          <p:cNvPr id="13" name="text-12">
            <a:extLst xmlns:a="http://schemas.openxmlformats.org/drawingml/2006/main">
              <a:ext uri="{FF2B5EF4-FFF2-40B4-BE49-F238E27FC236}">
                <a16:creationId xmlns:a16="http://schemas.microsoft.com/office/drawing/2014/main" id="{85A9DBA5-8654-40F6-8591-46D7998FD668}"/>
              </a:ext>
            </a:extLst>
          </p:cNvPr>
          <p:cNvSpPr>
            <a:spLocks xmlns:a="http://schemas.openxmlformats.org/drawingml/2006/main" noGrp="1"/>
          </p:cNvSpPr>
          <p:nvPr/>
        </p:nvSpPr>
        <p:spPr>
          <a:xfrm xmlns:a="http://schemas.openxmlformats.org/drawingml/2006/main">
            <a:off x="8191500" y="23717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2D6A8"/>
                </a:solidFill>
                <a:latin typeface="Helvetica Neue"/>
                <a:ea typeface="Helvetica Neue"/>
                <a:cs typeface="Helvetica Neue"/>
              </a:defRPr>
            </a:pPr>
            <a:r>
              <a:rPr sz="2400" b="1">
                <a:solidFill>
                  <a:srgbClr val="72D6A8"/>
                </a:solidFill>
                <a:latin typeface="Helvetica Neue"/>
                <a:ea typeface="Helvetica Neue"/>
                <a:cs typeface="Helvetica Neue"/>
              </a:rPr>
              <a:t>04</a:t>
            </a:r>
          </a:p>
        </p:txBody>
      </p:sp>
      <p:sp>
        <p:nvSpPr>
          <p:cNvPr id="14" name="text-13">
            <a:extLst xmlns:a="http://schemas.openxmlformats.org/drawingml/2006/main">
              <a:ext uri="{FF2B5EF4-FFF2-40B4-BE49-F238E27FC236}">
                <a16:creationId xmlns:a16="http://schemas.microsoft.com/office/drawing/2014/main" id="{579BB2F3-9851-487E-9C6A-B5BBC7473428}"/>
              </a:ext>
            </a:extLst>
          </p:cNvPr>
          <p:cNvSpPr>
            <a:spLocks xmlns:a="http://schemas.openxmlformats.org/drawingml/2006/main" noGrp="1"/>
          </p:cNvSpPr>
          <p:nvPr/>
        </p:nvSpPr>
        <p:spPr>
          <a:xfrm xmlns:a="http://schemas.openxmlformats.org/drawingml/2006/main">
            <a:off x="8953500" y="23717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Request search</a:t>
            </a:r>
          </a:p>
        </p:txBody>
      </p:sp>
      <p:sp>
        <p:nvSpPr>
          <p:cNvPr id="15" name="text-14">
            <a:extLst xmlns:a="http://schemas.openxmlformats.org/drawingml/2006/main">
              <a:ext uri="{FF2B5EF4-FFF2-40B4-BE49-F238E27FC236}">
                <a16:creationId xmlns:a16="http://schemas.microsoft.com/office/drawing/2014/main" id="{A3EEAB34-CA9B-4B11-A994-EA94DCF6394C}"/>
              </a:ext>
            </a:extLst>
          </p:cNvPr>
          <p:cNvSpPr>
            <a:spLocks xmlns:a="http://schemas.openxmlformats.org/drawingml/2006/main" noGrp="1"/>
          </p:cNvSpPr>
          <p:nvPr/>
        </p:nvSpPr>
        <p:spPr>
          <a:xfrm xmlns:a="http://schemas.openxmlformats.org/drawingml/2006/main">
            <a:off x="8953500" y="2924175"/>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BD1"/>
                </a:solidFill>
                <a:latin typeface="Helvetica Neue"/>
                <a:ea typeface="Helvetica Neue"/>
                <a:cs typeface="Helvetica Neue"/>
              </a:defRPr>
            </a:pPr>
            <a:r>
              <a:rPr sz="2025" b="0">
                <a:solidFill>
                  <a:srgbClr val="CBDBD1"/>
                </a:solidFill>
                <a:latin typeface="Helvetica Neue"/>
                <a:ea typeface="Helvetica Neue"/>
                <a:cs typeface="Helvetica Neue"/>
              </a:rPr>
              <a:t>Send /improve in Telegram, then the change request.</a:t>
            </a:r>
          </a:p>
        </p:txBody>
      </p:sp>
      <p:sp>
        <p:nvSpPr>
          <p:cNvPr id="16" name="text-15">
            <a:extLst xmlns:a="http://schemas.openxmlformats.org/drawingml/2006/main">
              <a:ext uri="{FF2B5EF4-FFF2-40B4-BE49-F238E27FC236}">
                <a16:creationId xmlns:a16="http://schemas.microsoft.com/office/drawing/2014/main" id="{4501AF09-33AA-4F06-BD7A-72DF059B5149}"/>
              </a:ext>
            </a:extLst>
          </p:cNvPr>
          <p:cNvSpPr>
            <a:spLocks xmlns:a="http://schemas.openxmlformats.org/drawingml/2006/main" noGrp="1"/>
          </p:cNvSpPr>
          <p:nvPr/>
        </p:nvSpPr>
        <p:spPr>
          <a:xfrm xmlns:a="http://schemas.openxmlformats.org/drawingml/2006/main">
            <a:off x="8191500" y="41529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2D6A8"/>
                </a:solidFill>
                <a:latin typeface="Helvetica Neue"/>
                <a:ea typeface="Helvetica Neue"/>
                <a:cs typeface="Helvetica Neue"/>
              </a:defRPr>
            </a:pPr>
            <a:r>
              <a:rPr sz="2400" b="1">
                <a:solidFill>
                  <a:srgbClr val="72D6A8"/>
                </a:solidFill>
                <a:latin typeface="Helvetica Neue"/>
                <a:ea typeface="Helvetica Neue"/>
                <a:cs typeface="Helvetica Neue"/>
              </a:rPr>
              <a:t>05</a:t>
            </a:r>
          </a:p>
        </p:txBody>
      </p:sp>
      <p:sp>
        <p:nvSpPr>
          <p:cNvPr id="17" name="text-16">
            <a:extLst xmlns:a="http://schemas.openxmlformats.org/drawingml/2006/main">
              <a:ext uri="{FF2B5EF4-FFF2-40B4-BE49-F238E27FC236}">
                <a16:creationId xmlns:a16="http://schemas.microsoft.com/office/drawing/2014/main" id="{0031101C-0273-4F5C-A4D6-4FC5801E18C4}"/>
              </a:ext>
            </a:extLst>
          </p:cNvPr>
          <p:cNvSpPr>
            <a:spLocks xmlns:a="http://schemas.openxmlformats.org/drawingml/2006/main" noGrp="1"/>
          </p:cNvSpPr>
          <p:nvPr/>
        </p:nvSpPr>
        <p:spPr>
          <a:xfrm xmlns:a="http://schemas.openxmlformats.org/drawingml/2006/main">
            <a:off x="8953500" y="41529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Check the improvement</a:t>
            </a:r>
          </a:p>
        </p:txBody>
      </p:sp>
      <p:sp>
        <p:nvSpPr>
          <p:cNvPr id="18" name="text-17">
            <a:extLst xmlns:a="http://schemas.openxmlformats.org/drawingml/2006/main">
              <a:ext uri="{FF2B5EF4-FFF2-40B4-BE49-F238E27FC236}">
                <a16:creationId xmlns:a16="http://schemas.microsoft.com/office/drawing/2014/main" id="{EC1129E8-FAB0-449A-A6DD-5728CEC974E0}"/>
              </a:ext>
            </a:extLst>
          </p:cNvPr>
          <p:cNvSpPr>
            <a:spLocks xmlns:a="http://schemas.openxmlformats.org/drawingml/2006/main" noGrp="1"/>
          </p:cNvSpPr>
          <p:nvPr/>
        </p:nvSpPr>
        <p:spPr>
          <a:xfrm xmlns:a="http://schemas.openxmlformats.org/drawingml/2006/main">
            <a:off x="8953500" y="4705350"/>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BD1"/>
                </a:solidFill>
                <a:latin typeface="Helvetica Neue"/>
                <a:ea typeface="Helvetica Neue"/>
                <a:cs typeface="Helvetica Neue"/>
              </a:defRPr>
            </a:pPr>
            <a:r>
              <a:rPr sz="2025" b="0">
                <a:solidFill>
                  <a:srgbClr val="CBDBD1"/>
                </a:solidFill>
                <a:latin typeface="Helvetica Neue"/>
                <a:ea typeface="Helvetica Neue"/>
                <a:cs typeface="Helvetica Neue"/>
              </a:rPr>
              <a:t>Filter tasks. Clear the query. Confirm saved states survive.</a:t>
            </a:r>
          </a:p>
        </p:txBody>
      </p:sp>
      <p:sp>
        <p:nvSpPr>
          <p:cNvPr id="19" name="text-18">
            <a:extLst xmlns:a="http://schemas.openxmlformats.org/drawingml/2006/main">
              <a:ext uri="{FF2B5EF4-FFF2-40B4-BE49-F238E27FC236}">
                <a16:creationId xmlns:a16="http://schemas.microsoft.com/office/drawing/2014/main" id="{B76B5827-7753-4531-9855-3BBA031DFCEC}"/>
              </a:ext>
            </a:extLst>
          </p:cNvPr>
          <p:cNvSpPr>
            <a:spLocks xmlns:a="http://schemas.openxmlformats.org/drawingml/2006/main" noGrp="1"/>
          </p:cNvSpPr>
          <p:nvPr/>
        </p:nvSpPr>
        <p:spPr>
          <a:xfrm xmlns:a="http://schemas.openxmlformats.org/drawingml/2006/main">
            <a:off x="8191500" y="59340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72D6A8"/>
                </a:solidFill>
                <a:latin typeface="Helvetica Neue"/>
                <a:ea typeface="Helvetica Neue"/>
                <a:cs typeface="Helvetica Neue"/>
              </a:defRPr>
            </a:pPr>
            <a:r>
              <a:rPr sz="2400" b="1">
                <a:solidFill>
                  <a:srgbClr val="72D6A8"/>
                </a:solidFill>
                <a:latin typeface="Helvetica Neue"/>
                <a:ea typeface="Helvetica Neue"/>
                <a:cs typeface="Helvetica Neue"/>
              </a:rPr>
              <a:t>06</a:t>
            </a:r>
          </a:p>
        </p:txBody>
      </p:sp>
      <p:sp>
        <p:nvSpPr>
          <p:cNvPr id="20" name="text-19">
            <a:extLst xmlns:a="http://schemas.openxmlformats.org/drawingml/2006/main">
              <a:ext uri="{FF2B5EF4-FFF2-40B4-BE49-F238E27FC236}">
                <a16:creationId xmlns:a16="http://schemas.microsoft.com/office/drawing/2014/main" id="{2613C02C-26B3-4057-84FD-446BE4E88C34}"/>
              </a:ext>
            </a:extLst>
          </p:cNvPr>
          <p:cNvSpPr>
            <a:spLocks xmlns:a="http://schemas.openxmlformats.org/drawingml/2006/main" noGrp="1"/>
          </p:cNvSpPr>
          <p:nvPr/>
        </p:nvSpPr>
        <p:spPr>
          <a:xfrm xmlns:a="http://schemas.openxmlformats.org/drawingml/2006/main">
            <a:off x="8953500" y="593407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Approve the new revision</a:t>
            </a:r>
          </a:p>
        </p:txBody>
      </p:sp>
      <p:sp>
        <p:nvSpPr>
          <p:cNvPr id="21" name="text-20">
            <a:extLst xmlns:a="http://schemas.openxmlformats.org/drawingml/2006/main">
              <a:ext uri="{FF2B5EF4-FFF2-40B4-BE49-F238E27FC236}">
                <a16:creationId xmlns:a16="http://schemas.microsoft.com/office/drawing/2014/main" id="{FF7BCF62-7455-4F28-8DCD-585385B58FF6}"/>
              </a:ext>
            </a:extLst>
          </p:cNvPr>
          <p:cNvSpPr>
            <a:spLocks xmlns:a="http://schemas.openxmlformats.org/drawingml/2006/main" noGrp="1"/>
          </p:cNvSpPr>
          <p:nvPr/>
        </p:nvSpPr>
        <p:spPr>
          <a:xfrm xmlns:a="http://schemas.openxmlformats.org/drawingml/2006/main">
            <a:off x="8953500" y="6486525"/>
            <a:ext cx="5429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BDBD1"/>
                </a:solidFill>
                <a:latin typeface="Helvetica Neue"/>
                <a:ea typeface="Helvetica Neue"/>
                <a:cs typeface="Helvetica Neue"/>
              </a:defRPr>
            </a:pPr>
            <a:r>
              <a:rPr sz="2025" b="0">
                <a:solidFill>
                  <a:srgbClr val="CBDBD1"/>
                </a:solidFill>
                <a:latin typeface="Helvetica Neue"/>
                <a:ea typeface="Helvetica Neue"/>
                <a:cs typeface="Helvetica Neue"/>
              </a:rPr>
              <a:t>Use the exact command in the bot reply.</a:t>
            </a:r>
          </a:p>
        </p:txBody>
      </p:sp>
    </p:spTree>
    <p:extLst>
      <p:ext uri="{BB962C8B-B14F-4D97-AF65-F5344CB8AC3E}">
        <p14:creationId xmlns:p14="http://schemas.microsoft.com/office/powerpoint/2010/main" val="1733383366"/>
      </p:ext>
    </p:extLst>
  </p:cSld>
</p:sld>
</file>

<file path=ppt/slides/slide1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C70C2E5-AEF1-4F85-A1A8-BD10EE2B4806}"/>
              </a:ext>
            </a:extLst>
          </p:cNvPr>
          <p:cNvSpPr>
            <a:spLocks xmlns:a="http://schemas.openxmlformats.org/drawingml/2006/main" noGrp="1"/>
          </p:cNvSpPr>
          <p:nvPr/>
        </p:nvSpPr>
        <p:spPr>
          <a:xfrm xmlns:a="http://schemas.openxmlformats.org/drawingml/2006/main">
            <a:off x="723900" y="523875"/>
            <a:ext cx="1381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8241F"/>
                </a:solidFill>
                <a:latin typeface="Helvetica Neue"/>
                <a:ea typeface="Helvetica Neue"/>
                <a:cs typeface="Helvetica Neue"/>
              </a:defRPr>
            </a:pPr>
            <a:r>
              <a:rPr sz="4200" b="1">
                <a:solidFill>
                  <a:srgbClr val="18241F"/>
                </a:solidFill>
                <a:latin typeface="Helvetica Neue"/>
                <a:ea typeface="Helvetica Neue"/>
                <a:cs typeface="Helvetica Neue"/>
              </a:rPr>
              <a:t>Appendix: running OrbitFlow locally</a:t>
            </a:r>
          </a:p>
        </p:txBody>
      </p:sp>
      <p:sp>
        <p:nvSpPr>
          <p:cNvPr id="2" name="text-1">
            <a:extLst xmlns:a="http://schemas.openxmlformats.org/drawingml/2006/main">
              <a:ext uri="{FF2B5EF4-FFF2-40B4-BE49-F238E27FC236}">
                <a16:creationId xmlns:a16="http://schemas.microsoft.com/office/drawing/2014/main" id="{F451C2E5-FA2E-4781-AF18-C2785C027A30}"/>
              </a:ext>
            </a:extLst>
          </p:cNvPr>
          <p:cNvSpPr>
            <a:spLocks xmlns:a="http://schemas.openxmlformats.org/drawingml/2006/main" noGrp="1"/>
          </p:cNvSpPr>
          <p:nvPr/>
        </p:nvSpPr>
        <p:spPr>
          <a:xfrm xmlns:a="http://schemas.openxmlformats.org/drawingml/2006/main">
            <a:off x="13830300" y="802005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86C60"/>
                </a:solidFill>
                <a:latin typeface="Helvetica Neue"/>
                <a:ea typeface="Helvetica Neue"/>
                <a:cs typeface="Helvetica Neue"/>
              </a:defRPr>
            </a:pPr>
            <a:r>
              <a:rPr sz="1350" b="0">
                <a:solidFill>
                  <a:srgbClr val="586C60"/>
                </a:solidFill>
                <a:latin typeface="Helvetica Neue"/>
                <a:ea typeface="Helvetica Neue"/>
                <a:cs typeface="Helvetica Neue"/>
              </a:rPr>
              <a:t>18</a:t>
            </a:r>
          </a:p>
        </p:txBody>
      </p:sp>
      <p:sp>
        <p:nvSpPr>
          <p:cNvPr id="3" name="text-2">
            <a:extLst xmlns:a="http://schemas.openxmlformats.org/drawingml/2006/main">
              <a:ext uri="{FF2B5EF4-FFF2-40B4-BE49-F238E27FC236}">
                <a16:creationId xmlns:a16="http://schemas.microsoft.com/office/drawing/2014/main" id="{7F04A951-4350-478C-98B8-F5EC75B0F2A2}"/>
              </a:ext>
            </a:extLst>
          </p:cNvPr>
          <p:cNvSpPr>
            <a:spLocks xmlns:a="http://schemas.openxmlformats.org/drawingml/2006/main" noGrp="1"/>
          </p:cNvSpPr>
          <p:nvPr/>
        </p:nvSpPr>
        <p:spPr>
          <a:xfrm xmlns:a="http://schemas.openxmlformats.org/drawingml/2006/main">
            <a:off x="781050" y="22574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7A55"/>
                </a:solidFill>
                <a:latin typeface="Helvetica Neue"/>
                <a:ea typeface="Helvetica Neue"/>
                <a:cs typeface="Helvetica Neue"/>
              </a:defRPr>
            </a:pPr>
            <a:r>
              <a:rPr sz="2550" b="1">
                <a:solidFill>
                  <a:srgbClr val="147A55"/>
                </a:solidFill>
                <a:latin typeface="Helvetica Neue"/>
                <a:ea typeface="Helvetica Neue"/>
                <a:cs typeface="Helvetica Neue"/>
              </a:rPr>
              <a:t>Prerequisites</a:t>
            </a:r>
          </a:p>
        </p:txBody>
      </p:sp>
      <p:sp>
        <p:nvSpPr>
          <p:cNvPr id="4" name="text-3">
            <a:extLst xmlns:a="http://schemas.openxmlformats.org/drawingml/2006/main">
              <a:ext uri="{FF2B5EF4-FFF2-40B4-BE49-F238E27FC236}">
                <a16:creationId xmlns:a16="http://schemas.microsoft.com/office/drawing/2014/main" id="{8CB5CDBF-AA71-4123-8B37-5761A1FC06C1}"/>
              </a:ext>
            </a:extLst>
          </p:cNvPr>
          <p:cNvSpPr>
            <a:spLocks xmlns:a="http://schemas.openxmlformats.org/drawingml/2006/main" noGrp="1"/>
          </p:cNvSpPr>
          <p:nvPr/>
        </p:nvSpPr>
        <p:spPr>
          <a:xfrm xmlns:a="http://schemas.openxmlformats.org/drawingml/2006/main">
            <a:off x="781050" y="2847975"/>
            <a:ext cx="1209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241F"/>
                </a:solidFill>
                <a:latin typeface="Helvetica Neue"/>
                <a:ea typeface="Helvetica Neue"/>
                <a:cs typeface="Helvetica Neue"/>
              </a:defRPr>
            </a:pPr>
            <a:r>
              <a:rPr sz="2550" b="0">
                <a:solidFill>
                  <a:srgbClr val="18241F"/>
                </a:solidFill>
                <a:latin typeface="Helvetica Neue"/>
                <a:ea typeface="Helvetica Neue"/>
                <a:cs typeface="Helvetica Neue"/>
              </a:rPr>
              <a:t>Node.js 22.12 or newer and Docker Desktop.</a:t>
            </a:r>
          </a:p>
        </p:txBody>
      </p:sp>
      <p:sp>
        <p:nvSpPr>
          <p:cNvPr id="5" name="text-4">
            <a:extLst xmlns:a="http://schemas.openxmlformats.org/drawingml/2006/main">
              <a:ext uri="{FF2B5EF4-FFF2-40B4-BE49-F238E27FC236}">
                <a16:creationId xmlns:a16="http://schemas.microsoft.com/office/drawing/2014/main" id="{57858320-C98E-4B27-A27D-57BD6E3F5FF4}"/>
              </a:ext>
            </a:extLst>
          </p:cNvPr>
          <p:cNvSpPr>
            <a:spLocks xmlns:a="http://schemas.openxmlformats.org/drawingml/2006/main" noGrp="1"/>
          </p:cNvSpPr>
          <p:nvPr/>
        </p:nvSpPr>
        <p:spPr>
          <a:xfrm xmlns:a="http://schemas.openxmlformats.org/drawingml/2006/main">
            <a:off x="781050" y="3962400"/>
            <a:ext cx="1276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86C60"/>
                </a:solidFill>
                <a:latin typeface="Helvetica Neue"/>
                <a:ea typeface="Helvetica Neue"/>
                <a:cs typeface="Helvetica Neue"/>
              </a:defRPr>
            </a:pPr>
            <a:r>
              <a:rPr sz="2400" b="0">
                <a:solidFill>
                  <a:srgbClr val="586C60"/>
                </a:solidFill>
                <a:latin typeface="Helvetica Neue"/>
                <a:ea typeface="Helvetica Neue"/>
                <a:cs typeface="Helvetica Neue"/>
              </a:rPr>
              <a:t>From /Users/adam/orbitflow-v2</a:t>
            </a:r>
          </a:p>
        </p:txBody>
      </p:sp>
      <p:sp>
        <p:nvSpPr>
          <p:cNvPr id="6" name="text-5">
            <a:extLst xmlns:a="http://schemas.openxmlformats.org/drawingml/2006/main">
              <a:ext uri="{FF2B5EF4-FFF2-40B4-BE49-F238E27FC236}">
                <a16:creationId xmlns:a16="http://schemas.microsoft.com/office/drawing/2014/main" id="{F1DF4972-9678-4BD5-941D-C08186F46D01}"/>
              </a:ext>
            </a:extLst>
          </p:cNvPr>
          <p:cNvSpPr>
            <a:spLocks xmlns:a="http://schemas.openxmlformats.org/drawingml/2006/main" noGrp="1"/>
          </p:cNvSpPr>
          <p:nvPr/>
        </p:nvSpPr>
        <p:spPr>
          <a:xfrm xmlns:a="http://schemas.openxmlformats.org/drawingml/2006/main">
            <a:off x="781050" y="4676775"/>
            <a:ext cx="12668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8241F"/>
                </a:solidFill>
                <a:latin typeface="Helvetica Neue"/>
                <a:ea typeface="Helvetica Neue"/>
                <a:cs typeface="Helvetica Neue"/>
              </a:defRPr>
            </a:pPr>
            <a:r>
              <a:rPr sz="3900" b="1">
                <a:solidFill>
                  <a:srgbClr val="18241F"/>
                </a:solidFill>
                <a:latin typeface="Helvetica Neue"/>
                <a:ea typeface="Helvetica Neue"/>
                <a:cs typeface="Helvetica Neue"/>
              </a:rPr>
              <a:t>npm run setup</a:t>
            </a:r>
          </a:p>
        </p:txBody>
      </p:sp>
      <p:sp>
        <p:nvSpPr>
          <p:cNvPr id="7" name="text-6">
            <a:extLst xmlns:a="http://schemas.openxmlformats.org/drawingml/2006/main">
              <a:ext uri="{FF2B5EF4-FFF2-40B4-BE49-F238E27FC236}">
                <a16:creationId xmlns:a16="http://schemas.microsoft.com/office/drawing/2014/main" id="{B041A368-7CAC-46FA-9523-1502CD8C293A}"/>
              </a:ext>
            </a:extLst>
          </p:cNvPr>
          <p:cNvSpPr>
            <a:spLocks xmlns:a="http://schemas.openxmlformats.org/drawingml/2006/main" noGrp="1"/>
          </p:cNvSpPr>
          <p:nvPr/>
        </p:nvSpPr>
        <p:spPr>
          <a:xfrm xmlns:a="http://schemas.openxmlformats.org/drawingml/2006/main">
            <a:off x="781050" y="5810250"/>
            <a:ext cx="13239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41F"/>
                </a:solidFill>
                <a:latin typeface="Helvetica Neue"/>
                <a:ea typeface="Helvetica Neue"/>
                <a:cs typeface="Helvetica Neue"/>
              </a:defRPr>
            </a:pPr>
            <a:r>
              <a:rPr sz="2400" b="0">
                <a:solidFill>
                  <a:srgbClr val="18241F"/>
                </a:solidFill>
                <a:latin typeface="Helvetica Neue"/>
                <a:ea typeface="Helvetica Neue"/>
                <a:cs typeface="Helvetica Neue"/>
              </a:rPr>
              <a:t>Keep the command running, then open http://127.0.0.1:4310.</a:t>
            </a:r>
          </a:p>
        </p:txBody>
      </p:sp>
      <p:sp>
        <p:nvSpPr>
          <p:cNvPr id="8" name="text-7">
            <a:extLst xmlns:a="http://schemas.openxmlformats.org/drawingml/2006/main">
              <a:ext uri="{FF2B5EF4-FFF2-40B4-BE49-F238E27FC236}">
                <a16:creationId xmlns:a16="http://schemas.microsoft.com/office/drawing/2014/main" id="{E151FE9C-4AFD-48FF-B1F4-66D7FEA50393}"/>
              </a:ext>
            </a:extLst>
          </p:cNvPr>
          <p:cNvSpPr>
            <a:spLocks xmlns:a="http://schemas.openxmlformats.org/drawingml/2006/main" noGrp="1"/>
          </p:cNvSpPr>
          <p:nvPr/>
        </p:nvSpPr>
        <p:spPr>
          <a:xfrm xmlns:a="http://schemas.openxmlformats.org/drawingml/2006/main">
            <a:off x="781050" y="7134225"/>
            <a:ext cx="13335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C60"/>
                </a:solidFill>
                <a:latin typeface="Helvetica Neue"/>
                <a:ea typeface="Helvetica Neue"/>
                <a:cs typeface="Helvetica Neue"/>
              </a:defRPr>
            </a:pPr>
            <a:r>
              <a:rPr sz="2100" b="0">
                <a:solidFill>
                  <a:srgbClr val="586C60"/>
                </a:solidFill>
                <a:latin typeface="Helvetica Neue"/>
                <a:ea typeface="Helvetica Neue"/>
                <a:cs typeface="Helvetica Neue"/>
              </a:rPr>
              <a:t>Local and cloud data are separate. Keep the local Telegram consumer off while the cloud consumer uses the same bot.</a:t>
            </a:r>
          </a:p>
        </p:txBody>
      </p:sp>
    </p:spTree>
    <p:extLst>
      <p:ext uri="{BB962C8B-B14F-4D97-AF65-F5344CB8AC3E}">
        <p14:creationId xmlns:p14="http://schemas.microsoft.com/office/powerpoint/2010/main" val="2048731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2026-09-17T01:45:46.9720000Z</dcterms:created>
  <dcterms:modified xsi:type="dcterms:W3CDTF">2026-09-17T01:45:46.9730000Z</dcterms:modified>
</coreProperties>
</file>